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Ventas (indice 100=2013)</c:v>
                </c:pt>
              </c:strCache>
            </c:strRef>
          </c:tx>
          <c:spPr>
            <a:solidFill>
              <a:srgbClr val="2E86AB"/>
            </a:solidFill>
            <a:ln w="38100" cap="flat">
              <a:solidFill>
                <a:srgbClr val="2E86A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86AB"/>
              </a:solidFill>
              <a:ln w="9525" cap="flat">
                <a:solidFill>
                  <a:srgbClr val="2E86AB"/>
                </a:solidFill>
                <a:prstDash val="solid"/>
                <a:round/>
              </a:ln>
              <a:effectLst/>
            </c:spPr>
          </c:marker>
          <c:cat>
            <c:multiLvlStrRef>
              <c:f>Sheet1!$A$2:$A$19</c:f>
              <c:multiLvlStrCache>
                <c:ptCount val="18"/>
                <c:lvl>
                  <c:pt idx="0">
                    <c:v>07</c:v>
                  </c:pt>
                  <c:pt idx="1">
                    <c:v>08</c:v>
                  </c:pt>
                  <c:pt idx="2">
                    <c:v>09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lvl>
              </c:multiLvlStrCache>
            </c:multiLvlStrRef>
          </c:cat>
          <c:val>
            <c:numRef>
              <c:f>Sheet1!$B$2:$B$19</c:f>
              <c:numCache>
                <c:formatCode>General</c:formatCode>
                <c:ptCount val="18"/>
                <c:pt idx="0">
                  <c:v>2</c:v>
                </c:pt>
                <c:pt idx="1">
                  <c:v>5</c:v>
                </c:pt>
                <c:pt idx="2">
                  <c:v>11</c:v>
                </c:pt>
                <c:pt idx="3">
                  <c:v>24</c:v>
                </c:pt>
                <c:pt idx="4">
                  <c:v>45</c:v>
                </c:pt>
                <c:pt idx="5">
                  <c:v>70</c:v>
                </c:pt>
                <c:pt idx="6">
                  <c:v>100</c:v>
                </c:pt>
                <c:pt idx="7">
                  <c:v>108</c:v>
                </c:pt>
                <c:pt idx="8">
                  <c:v>113</c:v>
                </c:pt>
                <c:pt idx="9">
                  <c:v>117</c:v>
                </c:pt>
                <c:pt idx="10">
                  <c:v>115</c:v>
                </c:pt>
                <c:pt idx="11">
                  <c:v>112</c:v>
                </c:pt>
                <c:pt idx="12">
                  <c:v>107</c:v>
                </c:pt>
                <c:pt idx="13">
                  <c:v>100</c:v>
                </c:pt>
                <c:pt idx="14">
                  <c:v>105</c:v>
                </c:pt>
                <c:pt idx="15">
                  <c:v>93</c:v>
                </c:pt>
                <c:pt idx="16">
                  <c:v>88</c:v>
                </c:pt>
                <c:pt idx="17">
                  <c:v>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Smartphones vendidos (M)</c:v>
                </c:pt>
              </c:strCache>
            </c:strRef>
          </c:tx>
          <c:spPr>
            <a:solidFill>
              <a:srgbClr val="1A6B38"/>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Sheet1!$A$2:$A$8</c:f>
              <c:multiLvlStrCache>
                <c:ptCount val="7"/>
                <c:lvl>
                  <c:pt idx="0">
                    <c:v>2007</c:v>
                  </c:pt>
                  <c:pt idx="1">
                    <c:v>2008</c:v>
                  </c:pt>
                  <c:pt idx="2">
                    <c:v>2009</c:v>
                  </c:pt>
                  <c:pt idx="3">
                    <c:v>2010</c:v>
                  </c:pt>
                  <c:pt idx="4">
                    <c:v>2011</c:v>
                  </c:pt>
                  <c:pt idx="5">
                    <c:v>2012</c:v>
                  </c:pt>
                  <c:pt idx="6">
                    <c:v>2013</c:v>
                  </c:pt>
                </c:lvl>
              </c:multiLvlStrCache>
            </c:multiLvlStrRef>
          </c:cat>
          <c:val>
            <c:numRef>
              <c:f>Sheet1!$B$2:$B$8</c:f>
              <c:numCache>
                <c:formatCode>General</c:formatCode>
                <c:ptCount val="7"/>
                <c:pt idx="0">
                  <c:v>122</c:v>
                </c:pt>
                <c:pt idx="1">
                  <c:v>151</c:v>
                </c:pt>
                <c:pt idx="2">
                  <c:v>172</c:v>
                </c:pt>
                <c:pt idx="3">
                  <c:v>296</c:v>
                </c:pt>
                <c:pt idx="4">
                  <c:v>472</c:v>
                </c:pt>
                <c:pt idx="5">
                  <c:v>680</c:v>
                </c:pt>
                <c:pt idx="6">
                  <c:v>1010</c:v>
                </c:pt>
              </c:numCache>
            </c:numRef>
          </c:val>
        </c:ser>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Variacion anual ventas (%)</c:v>
                </c:pt>
              </c:strCache>
            </c:strRef>
          </c:tx>
          <c:spPr>
            <a:solidFill>
              <a:srgbClr val="B01E26"/>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Sheet1!$B$2:$B$8</c:f>
              <c:numCache>
                <c:formatCode>General</c:formatCode>
                <c:ptCount val="7"/>
                <c:pt idx="0">
                  <c:v>-4</c:v>
                </c:pt>
                <c:pt idx="1">
                  <c:v>-1</c:v>
                </c:pt>
                <c:pt idx="2">
                  <c:v>-6</c:v>
                </c:pt>
                <c:pt idx="3">
                  <c:v>6</c:v>
                </c:pt>
                <c:pt idx="4">
                  <c:v>-11</c:v>
                </c:pt>
                <c:pt idx="5">
                  <c:v>-4</c:v>
                </c:pt>
                <c:pt idx="6">
                  <c:v>-3</c:v>
                </c:pt>
              </c:numCache>
            </c:numRef>
          </c:val>
        </c:ser>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
          <c:min val="-1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Cuota de mercado 2024</c:v>
                </c:pt>
              </c:strCache>
            </c:strRef>
          </c:tx>
          <c:spPr>
            <a:solidFill>
              <a:schemeClr val="accent1"/>
            </a:solidFill>
            <a:ln w="9525" cap="flat">
              <a:solidFill>
                <a:srgbClr val="F9F9F9"/>
              </a:solidFill>
              <a:prstDash val="solid"/>
              <a:round/>
            </a:ln>
            <a:effectLst/>
          </c:spPr>
          <c:dPt>
            <c:idx val="0"/>
            <c:bubble3D val="0"/>
            <c:spPr>
              <a:solidFill>
                <a:srgbClr val="1B4F72"/>
              </a:solidFill>
              <a:effectLst/>
            </c:spPr>
          </c:dPt>
          <c:dPt>
            <c:idx val="1"/>
            <c:bubble3D val="0"/>
            <c:spPr>
              <a:solidFill>
                <a:srgbClr val="222222"/>
              </a:solidFill>
              <a:effectLst/>
            </c:spPr>
          </c:dPt>
          <c:dPt>
            <c:idx val="2"/>
            <c:bubble3D val="0"/>
            <c:spPr>
              <a:solidFill>
                <a:srgbClr val="E74C3C"/>
              </a:solidFill>
              <a:effectLst/>
            </c:spPr>
          </c:dPt>
          <c:dPt>
            <c:idx val="3"/>
            <c:bubble3D val="0"/>
            <c:spPr>
              <a:solidFill>
                <a:srgbClr val="27AE60"/>
              </a:solidFill>
              <a:effectLst/>
            </c:spPr>
          </c:dPt>
          <c:dPt>
            <c:idx val="4"/>
            <c:bubble3D val="0"/>
            <c:spPr>
              <a:solidFill>
                <a:srgbClr val="8E44AD"/>
              </a:solidFill>
              <a:effectLst/>
            </c:spPr>
          </c:dPt>
          <c:dPt>
            <c:idx val="5"/>
            <c:bubble3D val="0"/>
            <c:spPr>
              <a:solidFill>
                <a:srgbClr val="AAAAAA"/>
              </a:solidFill>
              <a:effectLst/>
            </c:spPr>
          </c:dPt>
          <c:dLbls>
            <c:dLbl>
              <c:idx val="0"/>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dLbl>
              <c:idx val="4"/>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dLbl>
              <c:idx val="5"/>
              <c:numFmt formatCode="General" sourceLinked="0"/>
              <c:spPr/>
              <c:txPr>
                <a:bodyPr/>
                <a:lstStyle/>
                <a:p>
                  <a:pPr>
                    <a:defRPr sz="10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Samsung</c:v>
                </c:pt>
                <c:pt idx="1">
                  <c:v>Apple</c:v>
                </c:pt>
                <c:pt idx="2">
                  <c:v>Xiaomi</c:v>
                </c:pt>
                <c:pt idx="3">
                  <c:v>OPPO</c:v>
                </c:pt>
                <c:pt idx="4">
                  <c:v>vivo</c:v>
                </c:pt>
                <c:pt idx="5">
                  <c:v>Otros</c:v>
                </c:pt>
              </c:strCache>
            </c:strRef>
          </c:cat>
          <c:val>
            <c:numRef>
              <c:f>Sheet1!$B$2:$B$7</c:f>
              <c:numCache>
                <c:ptCount val="6"/>
                <c:pt idx="0">
                  <c:v>22</c:v>
                </c:pt>
                <c:pt idx="1">
                  <c:v>18</c:v>
                </c:pt>
                <c:pt idx="2">
                  <c:v>13</c:v>
                </c:pt>
                <c:pt idx="3">
                  <c:v>10</c:v>
                </c:pt>
                <c:pt idx="4">
                  <c:v>9</c:v>
                </c:pt>
                <c:pt idx="5">
                  <c:v>28</c:v>
                </c:pt>
              </c:numCache>
            </c:numRef>
          </c:val>
        </c:ser>
        <c:firstSliceAng val="0"/>
      </c:pieChart>
      <c:spPr>
        <a:noFill/>
        <a:ln>
          <a:noFill/>
        </a:ln>
        <a:effectLst/>
      </c:spPr>
    </c:plotArea>
    <c:legend>
      <c:legendPos val="r"/>
      <c:overlay val="0"/>
      <c:txPr>
        <a:bodyPr/>
        <a:lstStyle/>
        <a:p>
          <a:pPr>
            <a:defRPr sz="1000">
              <a:solidFill>
                <a:srgbClr val="1A1A1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D1B2A"/>
          </a:solidFill>
          <a:ln/>
        </p:spPr>
      </p:sp>
      <p:sp>
        <p:nvSpPr>
          <p:cNvPr id="3" name="Shape 1"/>
          <p:cNvSpPr/>
          <p:nvPr/>
        </p:nvSpPr>
        <p:spPr>
          <a:xfrm>
            <a:off x="0" y="0"/>
            <a:ext cx="384048" cy="6858000"/>
          </a:xfrm>
          <a:prstGeom prst="rect">
            <a:avLst/>
          </a:prstGeom>
          <a:solidFill>
            <a:srgbClr val="E8890A"/>
          </a:solidFill>
          <a:ln/>
        </p:spPr>
      </p:sp>
      <p:sp>
        <p:nvSpPr>
          <p:cNvPr id="4" name="Shape 2"/>
          <p:cNvSpPr/>
          <p:nvPr/>
        </p:nvSpPr>
        <p:spPr>
          <a:xfrm>
            <a:off x="6172200" y="0"/>
            <a:ext cx="2971800" cy="6858000"/>
          </a:xfrm>
          <a:prstGeom prst="rect">
            <a:avLst/>
          </a:prstGeom>
          <a:solidFill>
            <a:srgbClr val="1B4F72">
              <a:alpha val="42000"/>
            </a:srgbClr>
          </a:solidFill>
          <a:ln/>
        </p:spPr>
      </p:sp>
      <p:sp>
        <p:nvSpPr>
          <p:cNvPr id="5" name="Shape 3"/>
          <p:cNvSpPr/>
          <p:nvPr/>
        </p:nvSpPr>
        <p:spPr>
          <a:xfrm>
            <a:off x="594360" y="3108960"/>
            <a:ext cx="5349240" cy="54864"/>
          </a:xfrm>
          <a:prstGeom prst="rect">
            <a:avLst/>
          </a:prstGeom>
          <a:solidFill>
            <a:srgbClr val="E8890A"/>
          </a:solidFill>
          <a:ln/>
        </p:spPr>
      </p:sp>
      <p:sp>
        <p:nvSpPr>
          <p:cNvPr id="6" name="Text 4"/>
          <p:cNvSpPr/>
          <p:nvPr/>
        </p:nvSpPr>
        <p:spPr>
          <a:xfrm>
            <a:off x="594360" y="1143000"/>
            <a:ext cx="5349240" cy="402336"/>
          </a:xfrm>
          <a:prstGeom prst="rect">
            <a:avLst/>
          </a:prstGeom>
          <a:noFill/>
          <a:ln/>
        </p:spPr>
        <p:txBody>
          <a:bodyPr wrap="square" rtlCol="0" anchor="ctr"/>
          <a:lstStyle/>
          <a:p>
            <a:pPr indent="0" marL="0">
              <a:buNone/>
            </a:pPr>
            <a:r>
              <a:rPr lang="en-US" sz="1150" spc="300" kern="0" dirty="0">
                <a:solidFill>
                  <a:srgbClr val="F9C74F"/>
                </a:solidFill>
                <a:latin typeface="Calibri" pitchFamily="34" charset="0"/>
                <a:ea typeface="Calibri" pitchFamily="34" charset="-122"/>
                <a:cs typeface="Calibri" pitchFamily="34" charset="-120"/>
              </a:rPr>
              <a:t>ANALISIS DEL CICLO DE VIDA</a:t>
            </a:r>
            <a:endParaRPr lang="en-US" sz="1150" dirty="0"/>
          </a:p>
        </p:txBody>
      </p:sp>
      <p:sp>
        <p:nvSpPr>
          <p:cNvPr id="7" name="Text 5"/>
          <p:cNvSpPr/>
          <p:nvPr/>
        </p:nvSpPr>
        <p:spPr>
          <a:xfrm>
            <a:off x="594360" y="1508760"/>
            <a:ext cx="5486400" cy="1417320"/>
          </a:xfrm>
          <a:prstGeom prst="rect">
            <a:avLst/>
          </a:prstGeom>
          <a:noFill/>
          <a:ln/>
        </p:spPr>
        <p:txBody>
          <a:bodyPr wrap="square"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SMARTPHONE</a:t>
            </a:r>
            <a:endParaRPr lang="en-US" sz="5600" dirty="0"/>
          </a:p>
        </p:txBody>
      </p:sp>
      <p:sp>
        <p:nvSpPr>
          <p:cNvPr id="8" name="Text 6"/>
          <p:cNvSpPr/>
          <p:nvPr/>
        </p:nvSpPr>
        <p:spPr>
          <a:xfrm>
            <a:off x="594360" y="3200400"/>
            <a:ext cx="5349240" cy="804672"/>
          </a:xfrm>
          <a:prstGeom prst="rect">
            <a:avLst/>
          </a:prstGeom>
          <a:noFill/>
          <a:ln/>
        </p:spPr>
        <p:txBody>
          <a:bodyPr wrap="square" rtlCol="0" anchor="ctr"/>
          <a:lstStyle/>
          <a:p>
            <a:pPr indent="0" marL="0">
              <a:buNone/>
            </a:pPr>
            <a:r>
              <a:rPr lang="en-US" sz="1250" dirty="0">
                <a:solidFill>
                  <a:srgbClr val="A8C0D6"/>
                </a:solidFill>
                <a:latin typeface="Calibri" pitchFamily="34" charset="0"/>
                <a:ea typeface="Calibri" pitchFamily="34" charset="-122"/>
                <a:cs typeface="Calibri" pitchFamily="34" charset="-120"/>
              </a:rPr>
              <a:t>Del primer iPhone a la era de la IA movil.</a:t>
            </a:r>
            <a:endParaRPr lang="en-US" sz="1250" dirty="0"/>
          </a:p>
          <a:p>
            <a:pPr indent="0" marL="0">
              <a:buNone/>
            </a:pPr>
            <a:r>
              <a:rPr lang="en-US" sz="1250" dirty="0">
                <a:solidFill>
                  <a:srgbClr val="A8C0D6"/>
                </a:solidFill>
                <a:latin typeface="Calibri" pitchFamily="34" charset="0"/>
                <a:ea typeface="Calibri" pitchFamily="34" charset="-122"/>
                <a:cs typeface="Calibri" pitchFamily="34" charset="-120"/>
              </a:rPr>
              <a:t>Un producto, cuatro fases, dos decadas de historia.</a:t>
            </a:r>
            <a:endParaRPr lang="en-US" sz="1250" dirty="0"/>
          </a:p>
        </p:txBody>
      </p:sp>
      <p:sp>
        <p:nvSpPr>
          <p:cNvPr id="9" name="Shape 7"/>
          <p:cNvSpPr/>
          <p:nvPr/>
        </p:nvSpPr>
        <p:spPr>
          <a:xfrm>
            <a:off x="594360" y="4206240"/>
            <a:ext cx="475488" cy="475488"/>
          </a:xfrm>
          <a:prstGeom prst="ellipse">
            <a:avLst/>
          </a:prstGeom>
          <a:solidFill>
            <a:srgbClr val="2E86AB"/>
          </a:solidFill>
          <a:ln/>
        </p:spPr>
      </p:sp>
      <p:sp>
        <p:nvSpPr>
          <p:cNvPr id="10" name="Text 8"/>
          <p:cNvSpPr/>
          <p:nvPr/>
        </p:nvSpPr>
        <p:spPr>
          <a:xfrm>
            <a:off x="594360" y="4206240"/>
            <a:ext cx="475488" cy="475488"/>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Intro</a:t>
            </a:r>
            <a:endParaRPr lang="en-US" sz="700" dirty="0"/>
          </a:p>
        </p:txBody>
      </p:sp>
      <p:sp>
        <p:nvSpPr>
          <p:cNvPr id="11" name="Shape 9"/>
          <p:cNvSpPr/>
          <p:nvPr/>
        </p:nvSpPr>
        <p:spPr>
          <a:xfrm>
            <a:off x="1252728" y="4206240"/>
            <a:ext cx="475488" cy="475488"/>
          </a:xfrm>
          <a:prstGeom prst="ellipse">
            <a:avLst/>
          </a:prstGeom>
          <a:solidFill>
            <a:srgbClr val="1A6B38"/>
          </a:solidFill>
          <a:ln/>
        </p:spPr>
      </p:sp>
      <p:sp>
        <p:nvSpPr>
          <p:cNvPr id="12" name="Text 10"/>
          <p:cNvSpPr/>
          <p:nvPr/>
        </p:nvSpPr>
        <p:spPr>
          <a:xfrm>
            <a:off x="1252728" y="4206240"/>
            <a:ext cx="475488" cy="475488"/>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Crece</a:t>
            </a:r>
            <a:endParaRPr lang="en-US" sz="700" dirty="0"/>
          </a:p>
        </p:txBody>
      </p:sp>
      <p:sp>
        <p:nvSpPr>
          <p:cNvPr id="13" name="Shape 11"/>
          <p:cNvSpPr/>
          <p:nvPr/>
        </p:nvSpPr>
        <p:spPr>
          <a:xfrm>
            <a:off x="1911096" y="4206240"/>
            <a:ext cx="475488" cy="475488"/>
          </a:xfrm>
          <a:prstGeom prst="ellipse">
            <a:avLst/>
          </a:prstGeom>
          <a:solidFill>
            <a:srgbClr val="E8890A"/>
          </a:solidFill>
          <a:ln/>
        </p:spPr>
      </p:sp>
      <p:sp>
        <p:nvSpPr>
          <p:cNvPr id="14" name="Text 12"/>
          <p:cNvSpPr/>
          <p:nvPr/>
        </p:nvSpPr>
        <p:spPr>
          <a:xfrm>
            <a:off x="1911096" y="4206240"/>
            <a:ext cx="475488" cy="475488"/>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Maduro</a:t>
            </a:r>
            <a:endParaRPr lang="en-US" sz="700" dirty="0"/>
          </a:p>
        </p:txBody>
      </p:sp>
      <p:sp>
        <p:nvSpPr>
          <p:cNvPr id="15" name="Shape 13"/>
          <p:cNvSpPr/>
          <p:nvPr/>
        </p:nvSpPr>
        <p:spPr>
          <a:xfrm>
            <a:off x="2569464" y="4206240"/>
            <a:ext cx="475488" cy="475488"/>
          </a:xfrm>
          <a:prstGeom prst="ellipse">
            <a:avLst/>
          </a:prstGeom>
          <a:solidFill>
            <a:srgbClr val="B01E26"/>
          </a:solidFill>
          <a:ln/>
        </p:spPr>
      </p:sp>
      <p:sp>
        <p:nvSpPr>
          <p:cNvPr id="16" name="Text 14"/>
          <p:cNvSpPr/>
          <p:nvPr/>
        </p:nvSpPr>
        <p:spPr>
          <a:xfrm>
            <a:off x="2569464" y="4206240"/>
            <a:ext cx="475488" cy="475488"/>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Declive</a:t>
            </a:r>
            <a:endParaRPr lang="en-US" sz="700" dirty="0"/>
          </a:p>
        </p:txBody>
      </p:sp>
      <p:sp>
        <p:nvSpPr>
          <p:cNvPr id="17" name="Shape 15"/>
          <p:cNvSpPr/>
          <p:nvPr/>
        </p:nvSpPr>
        <p:spPr>
          <a:xfrm>
            <a:off x="0" y="5742432"/>
            <a:ext cx="9144000" cy="1115568"/>
          </a:xfrm>
          <a:prstGeom prst="rect">
            <a:avLst/>
          </a:prstGeom>
          <a:solidFill>
            <a:srgbClr val="1B4F72"/>
          </a:solidFill>
          <a:ln/>
        </p:spPr>
      </p:sp>
      <p:sp>
        <p:nvSpPr>
          <p:cNvPr id="18" name="Text 16"/>
          <p:cNvSpPr/>
          <p:nvPr/>
        </p:nvSpPr>
        <p:spPr>
          <a:xfrm>
            <a:off x="457200" y="5971032"/>
            <a:ext cx="6583680" cy="402336"/>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Economia de la Empresa   |   2 DAW   |   Curso 2025-2026</a:t>
            </a:r>
            <a:endParaRPr lang="en-US" sz="1150" dirty="0"/>
          </a:p>
        </p:txBody>
      </p:sp>
      <p:sp>
        <p:nvSpPr>
          <p:cNvPr id="19" name="Text 17"/>
          <p:cNvSpPr/>
          <p:nvPr/>
        </p:nvSpPr>
        <p:spPr>
          <a:xfrm>
            <a:off x="7406640" y="5971032"/>
            <a:ext cx="1371600" cy="402336"/>
          </a:xfrm>
          <a:prstGeom prst="rect">
            <a:avLst/>
          </a:prstGeom>
          <a:noFill/>
          <a:ln/>
        </p:spPr>
        <p:txBody>
          <a:bodyPr wrap="square" rtlCol="0" anchor="ctr"/>
          <a:lstStyle/>
          <a:p>
            <a:pPr algn="r" indent="0" marL="0">
              <a:buNone/>
            </a:pPr>
            <a:r>
              <a:rPr lang="en-US" sz="1150" dirty="0">
                <a:solidFill>
                  <a:srgbClr val="F9C74F"/>
                </a:solidFill>
                <a:latin typeface="Calibri" pitchFamily="34" charset="0"/>
                <a:ea typeface="Calibri" pitchFamily="34" charset="-122"/>
                <a:cs typeface="Calibri" pitchFamily="34" charset="-120"/>
              </a:rPr>
              <a:t>Mayo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0D1B2A"/>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INDICE DE CONTENIDOS</a:t>
            </a:r>
            <a:endParaRPr lang="en-US" sz="2400" dirty="0"/>
          </a:p>
        </p:txBody>
      </p:sp>
      <p:sp>
        <p:nvSpPr>
          <p:cNvPr id="6" name="Shape 4"/>
          <p:cNvSpPr/>
          <p:nvPr/>
        </p:nvSpPr>
        <p:spPr>
          <a:xfrm>
            <a:off x="320040" y="1499616"/>
            <a:ext cx="493776" cy="493776"/>
          </a:xfrm>
          <a:prstGeom prst="ellipse">
            <a:avLst/>
          </a:prstGeom>
          <a:solidFill>
            <a:srgbClr val="E8890A"/>
          </a:solidFill>
          <a:ln/>
        </p:spPr>
      </p:sp>
      <p:sp>
        <p:nvSpPr>
          <p:cNvPr id="7" name="Text 5"/>
          <p:cNvSpPr/>
          <p:nvPr/>
        </p:nvSpPr>
        <p:spPr>
          <a:xfrm>
            <a:off x="320040" y="1499616"/>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923544" y="1472184"/>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Motivacion</a:t>
            </a:r>
            <a:endParaRPr lang="en-US" sz="1300" dirty="0"/>
          </a:p>
        </p:txBody>
      </p:sp>
      <p:sp>
        <p:nvSpPr>
          <p:cNvPr id="9" name="Text 7"/>
          <p:cNvSpPr/>
          <p:nvPr/>
        </p:nvSpPr>
        <p:spPr>
          <a:xfrm>
            <a:off x="923544" y="1810512"/>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Por que elegi el smartphone como producto de analisis</a:t>
            </a:r>
            <a:endParaRPr lang="en-US" sz="1050" dirty="0"/>
          </a:p>
        </p:txBody>
      </p:sp>
      <p:sp>
        <p:nvSpPr>
          <p:cNvPr id="10" name="Shape 8"/>
          <p:cNvSpPr/>
          <p:nvPr/>
        </p:nvSpPr>
        <p:spPr>
          <a:xfrm>
            <a:off x="320040" y="2578608"/>
            <a:ext cx="4206240" cy="18288"/>
          </a:xfrm>
          <a:prstGeom prst="rect">
            <a:avLst/>
          </a:prstGeom>
          <a:solidFill>
            <a:srgbClr val="DDDDDD"/>
          </a:solidFill>
          <a:ln/>
        </p:spPr>
      </p:sp>
      <p:sp>
        <p:nvSpPr>
          <p:cNvPr id="11" name="Shape 9"/>
          <p:cNvSpPr/>
          <p:nvPr/>
        </p:nvSpPr>
        <p:spPr>
          <a:xfrm>
            <a:off x="320040" y="2770632"/>
            <a:ext cx="493776" cy="493776"/>
          </a:xfrm>
          <a:prstGeom prst="ellipse">
            <a:avLst/>
          </a:prstGeom>
          <a:solidFill>
            <a:srgbClr val="E8890A"/>
          </a:solidFill>
          <a:ln/>
        </p:spPr>
      </p:sp>
      <p:sp>
        <p:nvSpPr>
          <p:cNvPr id="12" name="Text 10"/>
          <p:cNvSpPr/>
          <p:nvPr/>
        </p:nvSpPr>
        <p:spPr>
          <a:xfrm>
            <a:off x="320040" y="2770632"/>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923544" y="2743200"/>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Ciclo de vida</a:t>
            </a:r>
            <a:endParaRPr lang="en-US" sz="1300" dirty="0"/>
          </a:p>
        </p:txBody>
      </p:sp>
      <p:sp>
        <p:nvSpPr>
          <p:cNvPr id="14" name="Text 12"/>
          <p:cNvSpPr/>
          <p:nvPr/>
        </p:nvSpPr>
        <p:spPr>
          <a:xfrm>
            <a:off x="923544" y="3081528"/>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Modelo teorico y vision general con curva de ventas</a:t>
            </a:r>
            <a:endParaRPr lang="en-US" sz="1050" dirty="0"/>
          </a:p>
        </p:txBody>
      </p:sp>
      <p:sp>
        <p:nvSpPr>
          <p:cNvPr id="15" name="Shape 13"/>
          <p:cNvSpPr/>
          <p:nvPr/>
        </p:nvSpPr>
        <p:spPr>
          <a:xfrm>
            <a:off x="320040" y="3849624"/>
            <a:ext cx="4206240" cy="18288"/>
          </a:xfrm>
          <a:prstGeom prst="rect">
            <a:avLst/>
          </a:prstGeom>
          <a:solidFill>
            <a:srgbClr val="DDDDDD"/>
          </a:solidFill>
          <a:ln/>
        </p:spPr>
      </p:sp>
      <p:sp>
        <p:nvSpPr>
          <p:cNvPr id="16" name="Shape 14"/>
          <p:cNvSpPr/>
          <p:nvPr/>
        </p:nvSpPr>
        <p:spPr>
          <a:xfrm>
            <a:off x="320040" y="4041648"/>
            <a:ext cx="493776" cy="493776"/>
          </a:xfrm>
          <a:prstGeom prst="ellipse">
            <a:avLst/>
          </a:prstGeom>
          <a:solidFill>
            <a:srgbClr val="E8890A"/>
          </a:solidFill>
          <a:ln/>
        </p:spPr>
      </p:sp>
      <p:sp>
        <p:nvSpPr>
          <p:cNvPr id="17" name="Text 15"/>
          <p:cNvSpPr/>
          <p:nvPr/>
        </p:nvSpPr>
        <p:spPr>
          <a:xfrm>
            <a:off x="320040" y="4041648"/>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923544" y="4014216"/>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Fase 1: Introduccion</a:t>
            </a:r>
            <a:endParaRPr lang="en-US" sz="1300" dirty="0"/>
          </a:p>
        </p:txBody>
      </p:sp>
      <p:sp>
        <p:nvSpPr>
          <p:cNvPr id="19" name="Text 17"/>
          <p:cNvSpPr/>
          <p:nvPr/>
        </p:nvSpPr>
        <p:spPr>
          <a:xfrm>
            <a:off x="923544" y="4352544"/>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Lanzamiento del iPhone y primeros anos (2007-2009)</a:t>
            </a:r>
            <a:endParaRPr lang="en-US" sz="1050" dirty="0"/>
          </a:p>
        </p:txBody>
      </p:sp>
      <p:sp>
        <p:nvSpPr>
          <p:cNvPr id="20" name="Shape 18"/>
          <p:cNvSpPr/>
          <p:nvPr/>
        </p:nvSpPr>
        <p:spPr>
          <a:xfrm>
            <a:off x="320040" y="5120640"/>
            <a:ext cx="4206240" cy="18288"/>
          </a:xfrm>
          <a:prstGeom prst="rect">
            <a:avLst/>
          </a:prstGeom>
          <a:solidFill>
            <a:srgbClr val="DDDDDD"/>
          </a:solidFill>
          <a:ln/>
        </p:spPr>
      </p:sp>
      <p:sp>
        <p:nvSpPr>
          <p:cNvPr id="21" name="Shape 19"/>
          <p:cNvSpPr/>
          <p:nvPr/>
        </p:nvSpPr>
        <p:spPr>
          <a:xfrm>
            <a:off x="320040" y="5312664"/>
            <a:ext cx="493776" cy="493776"/>
          </a:xfrm>
          <a:prstGeom prst="ellipse">
            <a:avLst/>
          </a:prstGeom>
          <a:solidFill>
            <a:srgbClr val="E8890A"/>
          </a:solidFill>
          <a:ln/>
        </p:spPr>
      </p:sp>
      <p:sp>
        <p:nvSpPr>
          <p:cNvPr id="22" name="Text 20"/>
          <p:cNvSpPr/>
          <p:nvPr/>
        </p:nvSpPr>
        <p:spPr>
          <a:xfrm>
            <a:off x="320040" y="5312664"/>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923544" y="5285232"/>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Fase 2: Crecimiento</a:t>
            </a:r>
            <a:endParaRPr lang="en-US" sz="1300" dirty="0"/>
          </a:p>
        </p:txBody>
      </p:sp>
      <p:sp>
        <p:nvSpPr>
          <p:cNvPr id="24" name="Text 22"/>
          <p:cNvSpPr/>
          <p:nvPr/>
        </p:nvSpPr>
        <p:spPr>
          <a:xfrm>
            <a:off x="923544" y="5623560"/>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Explosion del mercado global (2010-2013)</a:t>
            </a:r>
            <a:endParaRPr lang="en-US" sz="1050" dirty="0"/>
          </a:p>
        </p:txBody>
      </p:sp>
      <p:sp>
        <p:nvSpPr>
          <p:cNvPr id="25" name="Shape 23"/>
          <p:cNvSpPr/>
          <p:nvPr/>
        </p:nvSpPr>
        <p:spPr>
          <a:xfrm>
            <a:off x="4773168" y="1499616"/>
            <a:ext cx="493776" cy="493776"/>
          </a:xfrm>
          <a:prstGeom prst="ellipse">
            <a:avLst/>
          </a:prstGeom>
          <a:solidFill>
            <a:srgbClr val="E8890A"/>
          </a:solidFill>
          <a:ln/>
        </p:spPr>
      </p:sp>
      <p:sp>
        <p:nvSpPr>
          <p:cNvPr id="26" name="Text 24"/>
          <p:cNvSpPr/>
          <p:nvPr/>
        </p:nvSpPr>
        <p:spPr>
          <a:xfrm>
            <a:off x="4773168" y="1499616"/>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7" name="Text 25"/>
          <p:cNvSpPr/>
          <p:nvPr/>
        </p:nvSpPr>
        <p:spPr>
          <a:xfrm>
            <a:off x="5376672" y="1472184"/>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Fase 3: Madurez</a:t>
            </a:r>
            <a:endParaRPr lang="en-US" sz="1300" dirty="0"/>
          </a:p>
        </p:txBody>
      </p:sp>
      <p:sp>
        <p:nvSpPr>
          <p:cNvPr id="28" name="Text 26"/>
          <p:cNvSpPr/>
          <p:nvPr/>
        </p:nvSpPr>
        <p:spPr>
          <a:xfrm>
            <a:off x="5376672" y="1810512"/>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Saturacion, precio y competencia (2014-2020)</a:t>
            </a:r>
            <a:endParaRPr lang="en-US" sz="1050" dirty="0"/>
          </a:p>
        </p:txBody>
      </p:sp>
      <p:sp>
        <p:nvSpPr>
          <p:cNvPr id="29" name="Shape 27"/>
          <p:cNvSpPr/>
          <p:nvPr/>
        </p:nvSpPr>
        <p:spPr>
          <a:xfrm>
            <a:off x="4773168" y="2578608"/>
            <a:ext cx="4206240" cy="18288"/>
          </a:xfrm>
          <a:prstGeom prst="rect">
            <a:avLst/>
          </a:prstGeom>
          <a:solidFill>
            <a:srgbClr val="DDDDDD"/>
          </a:solidFill>
          <a:ln/>
        </p:spPr>
      </p:sp>
      <p:sp>
        <p:nvSpPr>
          <p:cNvPr id="30" name="Shape 28"/>
          <p:cNvSpPr/>
          <p:nvPr/>
        </p:nvSpPr>
        <p:spPr>
          <a:xfrm>
            <a:off x="4773168" y="2770632"/>
            <a:ext cx="493776" cy="493776"/>
          </a:xfrm>
          <a:prstGeom prst="ellipse">
            <a:avLst/>
          </a:prstGeom>
          <a:solidFill>
            <a:srgbClr val="E8890A"/>
          </a:solidFill>
          <a:ln/>
        </p:spPr>
      </p:sp>
      <p:sp>
        <p:nvSpPr>
          <p:cNvPr id="31" name="Text 29"/>
          <p:cNvSpPr/>
          <p:nvPr/>
        </p:nvSpPr>
        <p:spPr>
          <a:xfrm>
            <a:off x="4773168" y="2770632"/>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2" name="Text 30"/>
          <p:cNvSpPr/>
          <p:nvPr/>
        </p:nvSpPr>
        <p:spPr>
          <a:xfrm>
            <a:off x="5376672" y="2743200"/>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Fase 4: Declive</a:t>
            </a:r>
            <a:endParaRPr lang="en-US" sz="1300" dirty="0"/>
          </a:p>
        </p:txBody>
      </p:sp>
      <p:sp>
        <p:nvSpPr>
          <p:cNvPr id="33" name="Text 31"/>
          <p:cNvSpPr/>
          <p:nvPr/>
        </p:nvSpPr>
        <p:spPr>
          <a:xfrm>
            <a:off x="5376672" y="3081528"/>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Caida de ventas y estrategias de reinvencion (2021-hoy)</a:t>
            </a:r>
            <a:endParaRPr lang="en-US" sz="1050" dirty="0"/>
          </a:p>
        </p:txBody>
      </p:sp>
      <p:sp>
        <p:nvSpPr>
          <p:cNvPr id="34" name="Shape 32"/>
          <p:cNvSpPr/>
          <p:nvPr/>
        </p:nvSpPr>
        <p:spPr>
          <a:xfrm>
            <a:off x="4773168" y="3849624"/>
            <a:ext cx="4206240" cy="18288"/>
          </a:xfrm>
          <a:prstGeom prst="rect">
            <a:avLst/>
          </a:prstGeom>
          <a:solidFill>
            <a:srgbClr val="DDDDDD"/>
          </a:solidFill>
          <a:ln/>
        </p:spPr>
      </p:sp>
      <p:sp>
        <p:nvSpPr>
          <p:cNvPr id="35" name="Shape 33"/>
          <p:cNvSpPr/>
          <p:nvPr/>
        </p:nvSpPr>
        <p:spPr>
          <a:xfrm>
            <a:off x="4773168" y="4041648"/>
            <a:ext cx="493776" cy="493776"/>
          </a:xfrm>
          <a:prstGeom prst="ellipse">
            <a:avLst/>
          </a:prstGeom>
          <a:solidFill>
            <a:srgbClr val="E8890A"/>
          </a:solidFill>
          <a:ln/>
        </p:spPr>
      </p:sp>
      <p:sp>
        <p:nvSpPr>
          <p:cNvPr id="36" name="Text 34"/>
          <p:cNvSpPr/>
          <p:nvPr/>
        </p:nvSpPr>
        <p:spPr>
          <a:xfrm>
            <a:off x="4773168" y="4041648"/>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7" name="Text 35"/>
          <p:cNvSpPr/>
          <p:nvPr/>
        </p:nvSpPr>
        <p:spPr>
          <a:xfrm>
            <a:off x="5376672" y="4014216"/>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Datos economicos</a:t>
            </a:r>
            <a:endParaRPr lang="en-US" sz="1300" dirty="0"/>
          </a:p>
        </p:txBody>
      </p:sp>
      <p:sp>
        <p:nvSpPr>
          <p:cNvPr id="38" name="Text 36"/>
          <p:cNvSpPr/>
          <p:nvPr/>
        </p:nvSpPr>
        <p:spPr>
          <a:xfrm>
            <a:off x="5376672" y="4352544"/>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Cuota de mercado, ingresos y comparativa de fabricantes</a:t>
            </a:r>
            <a:endParaRPr lang="en-US" sz="1050" dirty="0"/>
          </a:p>
        </p:txBody>
      </p:sp>
      <p:sp>
        <p:nvSpPr>
          <p:cNvPr id="39" name="Shape 37"/>
          <p:cNvSpPr/>
          <p:nvPr/>
        </p:nvSpPr>
        <p:spPr>
          <a:xfrm>
            <a:off x="4773168" y="5120640"/>
            <a:ext cx="4206240" cy="18288"/>
          </a:xfrm>
          <a:prstGeom prst="rect">
            <a:avLst/>
          </a:prstGeom>
          <a:solidFill>
            <a:srgbClr val="DDDDDD"/>
          </a:solidFill>
          <a:ln/>
        </p:spPr>
      </p:sp>
      <p:sp>
        <p:nvSpPr>
          <p:cNvPr id="40" name="Shape 38"/>
          <p:cNvSpPr/>
          <p:nvPr/>
        </p:nvSpPr>
        <p:spPr>
          <a:xfrm>
            <a:off x="4773168" y="5312664"/>
            <a:ext cx="493776" cy="493776"/>
          </a:xfrm>
          <a:prstGeom prst="ellipse">
            <a:avLst/>
          </a:prstGeom>
          <a:solidFill>
            <a:srgbClr val="E8890A"/>
          </a:solidFill>
          <a:ln/>
        </p:spPr>
      </p:sp>
      <p:sp>
        <p:nvSpPr>
          <p:cNvPr id="41" name="Text 39"/>
          <p:cNvSpPr/>
          <p:nvPr/>
        </p:nvSpPr>
        <p:spPr>
          <a:xfrm>
            <a:off x="4773168" y="5312664"/>
            <a:ext cx="493776" cy="49377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2" name="Text 40"/>
          <p:cNvSpPr/>
          <p:nvPr/>
        </p:nvSpPr>
        <p:spPr>
          <a:xfrm>
            <a:off x="5376672" y="5285232"/>
            <a:ext cx="3785616" cy="310896"/>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Conclusion</a:t>
            </a:r>
            <a:endParaRPr lang="en-US" sz="1300" dirty="0"/>
          </a:p>
        </p:txBody>
      </p:sp>
      <p:sp>
        <p:nvSpPr>
          <p:cNvPr id="43" name="Text 41"/>
          <p:cNvSpPr/>
          <p:nvPr/>
        </p:nvSpPr>
        <p:spPr>
          <a:xfrm>
            <a:off x="5376672" y="5623560"/>
            <a:ext cx="3785616" cy="329184"/>
          </a:xfrm>
          <a:prstGeom prst="rect">
            <a:avLst/>
          </a:prstGeom>
          <a:noFill/>
          <a:ln/>
        </p:spPr>
        <p:txBody>
          <a:bodyPr wrap="square" rtlCol="0" anchor="ctr"/>
          <a:lstStyle/>
          <a:p>
            <a:pPr indent="0" marL="0">
              <a:buNone/>
            </a:pPr>
            <a:r>
              <a:rPr lang="en-US" sz="1050" dirty="0">
                <a:solidFill>
                  <a:srgbClr val="555555"/>
                </a:solidFill>
                <a:latin typeface="Calibri" pitchFamily="34" charset="0"/>
                <a:ea typeface="Calibri" pitchFamily="34" charset="-122"/>
                <a:cs typeface="Calibri" pitchFamily="34" charset="-120"/>
              </a:rPr>
              <a:t>Reflexiones finales y lecciones del ciclo de vida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0D1B2A"/>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MOTIVACION  Por que el smartphone?</a:t>
            </a:r>
            <a:endParaRPr lang="en-US" sz="2400" dirty="0"/>
          </a:p>
        </p:txBody>
      </p:sp>
      <p:sp>
        <p:nvSpPr>
          <p:cNvPr id="6" name="Text 4"/>
          <p:cNvSpPr/>
          <p:nvPr/>
        </p:nvSpPr>
        <p:spPr>
          <a:xfrm>
            <a:off x="347472" y="1371600"/>
            <a:ext cx="8458200" cy="566928"/>
          </a:xfrm>
          <a:prstGeom prst="rect">
            <a:avLst/>
          </a:prstGeom>
          <a:noFill/>
          <a:ln/>
        </p:spPr>
        <p:txBody>
          <a:bodyPr wrap="square" rtlCol="0" anchor="ctr"/>
          <a:lstStyle/>
          <a:p>
            <a:pPr indent="0" marL="0">
              <a:buNone/>
            </a:pPr>
            <a:r>
              <a:rPr lang="en-US" sz="1200" i="1" dirty="0">
                <a:solidFill>
                  <a:srgbClr val="555555"/>
                </a:solidFill>
                <a:latin typeface="Calibri" pitchFamily="34" charset="0"/>
                <a:ea typeface="Calibri" pitchFamily="34" charset="-122"/>
                <a:cs typeface="Calibri" pitchFamily="34" charset="-120"/>
              </a:rPr>
              <a:t>El smartphone es el producto tecnologico que mas utilizamos a diario. En apenas 17 anos ha recorrido todas las fases del modelo clasico del ciclo de vida con datos reales y contrastados.</a:t>
            </a:r>
            <a:endParaRPr lang="en-US" sz="1200" dirty="0"/>
          </a:p>
        </p:txBody>
      </p:sp>
      <p:sp>
        <p:nvSpPr>
          <p:cNvPr id="7" name="Shape 5"/>
          <p:cNvSpPr/>
          <p:nvPr/>
        </p:nvSpPr>
        <p:spPr>
          <a:xfrm>
            <a:off x="347472" y="2084832"/>
            <a:ext cx="2724912" cy="1325880"/>
          </a:xfrm>
          <a:prstGeom prst="rect">
            <a:avLst/>
          </a:prstGeom>
          <a:solidFill>
            <a:srgbClr val="0D1B2A"/>
          </a:solidFill>
          <a:ln/>
        </p:spPr>
      </p:sp>
      <p:sp>
        <p:nvSpPr>
          <p:cNvPr id="8" name="Shape 6"/>
          <p:cNvSpPr/>
          <p:nvPr/>
        </p:nvSpPr>
        <p:spPr>
          <a:xfrm>
            <a:off x="347472" y="2084832"/>
            <a:ext cx="2724912" cy="54864"/>
          </a:xfrm>
          <a:prstGeom prst="rect">
            <a:avLst/>
          </a:prstGeom>
          <a:solidFill>
            <a:srgbClr val="2E86AB"/>
          </a:solidFill>
          <a:ln/>
        </p:spPr>
      </p:sp>
      <p:sp>
        <p:nvSpPr>
          <p:cNvPr id="9" name="Text 7"/>
          <p:cNvSpPr/>
          <p:nvPr/>
        </p:nvSpPr>
        <p:spPr>
          <a:xfrm>
            <a:off x="347472" y="2176272"/>
            <a:ext cx="2724912" cy="594360"/>
          </a:xfrm>
          <a:prstGeom prst="rect">
            <a:avLst/>
          </a:prstGeom>
          <a:noFill/>
          <a:ln/>
        </p:spPr>
        <p:txBody>
          <a:bodyPr wrap="square" rtlCol="0" anchor="ctr"/>
          <a:lstStyle/>
          <a:p>
            <a:pPr algn="ctr" indent="0" marL="0">
              <a:buNone/>
            </a:pPr>
            <a:r>
              <a:rPr lang="en-US" sz="2200" b="1" dirty="0">
                <a:solidFill>
                  <a:srgbClr val="F9C74F"/>
                </a:solidFill>
                <a:latin typeface="Calibri" pitchFamily="34" charset="0"/>
                <a:ea typeface="Calibri" pitchFamily="34" charset="-122"/>
                <a:cs typeface="Calibri" pitchFamily="34" charset="-120"/>
              </a:rPr>
              <a:t>6.800 M</a:t>
            </a:r>
            <a:endParaRPr lang="en-US" sz="2200" dirty="0"/>
          </a:p>
        </p:txBody>
      </p:sp>
      <p:sp>
        <p:nvSpPr>
          <p:cNvPr id="10" name="Text 8"/>
          <p:cNvSpPr/>
          <p:nvPr/>
        </p:nvSpPr>
        <p:spPr>
          <a:xfrm>
            <a:off x="347472" y="2770632"/>
            <a:ext cx="2724912" cy="530352"/>
          </a:xfrm>
          <a:prstGeom prst="rect">
            <a:avLst/>
          </a:prstGeom>
          <a:noFill/>
          <a:ln/>
        </p:spPr>
        <p:txBody>
          <a:bodyPr wrap="square" rtlCol="0" anchor="t"/>
          <a:lstStyle/>
          <a:p>
            <a:pPr algn="ctr" indent="0" marL="0">
              <a:buNone/>
            </a:pPr>
            <a:r>
              <a:rPr lang="en-US" sz="1000" dirty="0">
                <a:solidFill>
                  <a:srgbClr val="AACCEE"/>
                </a:solidFill>
                <a:latin typeface="Calibri" pitchFamily="34" charset="0"/>
                <a:ea typeface="Calibri" pitchFamily="34" charset="-122"/>
                <a:cs typeface="Calibri" pitchFamily="34" charset="-120"/>
              </a:rPr>
              <a:t>usuarios activos en el mundo (2024)</a:t>
            </a:r>
            <a:endParaRPr lang="en-US" sz="1000" dirty="0"/>
          </a:p>
        </p:txBody>
      </p:sp>
      <p:sp>
        <p:nvSpPr>
          <p:cNvPr id="11" name="Shape 9"/>
          <p:cNvSpPr/>
          <p:nvPr/>
        </p:nvSpPr>
        <p:spPr>
          <a:xfrm>
            <a:off x="3227832" y="2084832"/>
            <a:ext cx="2724912" cy="1325880"/>
          </a:xfrm>
          <a:prstGeom prst="rect">
            <a:avLst/>
          </a:prstGeom>
          <a:solidFill>
            <a:srgbClr val="0D1B2A"/>
          </a:solidFill>
          <a:ln/>
        </p:spPr>
      </p:sp>
      <p:sp>
        <p:nvSpPr>
          <p:cNvPr id="12" name="Shape 10"/>
          <p:cNvSpPr/>
          <p:nvPr/>
        </p:nvSpPr>
        <p:spPr>
          <a:xfrm>
            <a:off x="3227832" y="2084832"/>
            <a:ext cx="2724912" cy="54864"/>
          </a:xfrm>
          <a:prstGeom prst="rect">
            <a:avLst/>
          </a:prstGeom>
          <a:solidFill>
            <a:srgbClr val="1A6B38"/>
          </a:solidFill>
          <a:ln/>
        </p:spPr>
      </p:sp>
      <p:sp>
        <p:nvSpPr>
          <p:cNvPr id="13" name="Text 11"/>
          <p:cNvSpPr/>
          <p:nvPr/>
        </p:nvSpPr>
        <p:spPr>
          <a:xfrm>
            <a:off x="3227832" y="2176272"/>
            <a:ext cx="2724912" cy="594360"/>
          </a:xfrm>
          <a:prstGeom prst="rect">
            <a:avLst/>
          </a:prstGeom>
          <a:noFill/>
          <a:ln/>
        </p:spPr>
        <p:txBody>
          <a:bodyPr wrap="square" rtlCol="0" anchor="ctr"/>
          <a:lstStyle/>
          <a:p>
            <a:pPr algn="ctr" indent="0" marL="0">
              <a:buNone/>
            </a:pPr>
            <a:r>
              <a:rPr lang="en-US" sz="2200" b="1" dirty="0">
                <a:solidFill>
                  <a:srgbClr val="F9C74F"/>
                </a:solidFill>
                <a:latin typeface="Calibri" pitchFamily="34" charset="0"/>
                <a:ea typeface="Calibri" pitchFamily="34" charset="-122"/>
                <a:cs typeface="Calibri" pitchFamily="34" charset="-120"/>
              </a:rPr>
              <a:t>5,4 h/dia</a:t>
            </a:r>
            <a:endParaRPr lang="en-US" sz="2200" dirty="0"/>
          </a:p>
        </p:txBody>
      </p:sp>
      <p:sp>
        <p:nvSpPr>
          <p:cNvPr id="14" name="Text 12"/>
          <p:cNvSpPr/>
          <p:nvPr/>
        </p:nvSpPr>
        <p:spPr>
          <a:xfrm>
            <a:off x="3227832" y="2770632"/>
            <a:ext cx="2724912" cy="530352"/>
          </a:xfrm>
          <a:prstGeom prst="rect">
            <a:avLst/>
          </a:prstGeom>
          <a:noFill/>
          <a:ln/>
        </p:spPr>
        <p:txBody>
          <a:bodyPr wrap="square" rtlCol="0" anchor="t"/>
          <a:lstStyle/>
          <a:p>
            <a:pPr algn="ctr" indent="0" marL="0">
              <a:buNone/>
            </a:pPr>
            <a:r>
              <a:rPr lang="en-US" sz="1000" dirty="0">
                <a:solidFill>
                  <a:srgbClr val="AACCEE"/>
                </a:solidFill>
                <a:latin typeface="Calibri" pitchFamily="34" charset="0"/>
                <a:ea typeface="Calibri" pitchFamily="34" charset="-122"/>
                <a:cs typeface="Calibri" pitchFamily="34" charset="-120"/>
              </a:rPr>
              <a:t>de uso medio diario por persona en Espana</a:t>
            </a:r>
            <a:endParaRPr lang="en-US" sz="1000" dirty="0"/>
          </a:p>
        </p:txBody>
      </p:sp>
      <p:sp>
        <p:nvSpPr>
          <p:cNvPr id="15" name="Shape 13"/>
          <p:cNvSpPr/>
          <p:nvPr/>
        </p:nvSpPr>
        <p:spPr>
          <a:xfrm>
            <a:off x="6108192" y="2084832"/>
            <a:ext cx="2724912" cy="1325880"/>
          </a:xfrm>
          <a:prstGeom prst="rect">
            <a:avLst/>
          </a:prstGeom>
          <a:solidFill>
            <a:srgbClr val="0D1B2A"/>
          </a:solidFill>
          <a:ln/>
        </p:spPr>
      </p:sp>
      <p:sp>
        <p:nvSpPr>
          <p:cNvPr id="16" name="Shape 14"/>
          <p:cNvSpPr/>
          <p:nvPr/>
        </p:nvSpPr>
        <p:spPr>
          <a:xfrm>
            <a:off x="6108192" y="2084832"/>
            <a:ext cx="2724912" cy="54864"/>
          </a:xfrm>
          <a:prstGeom prst="rect">
            <a:avLst/>
          </a:prstGeom>
          <a:solidFill>
            <a:srgbClr val="8B3A00"/>
          </a:solidFill>
          <a:ln/>
        </p:spPr>
      </p:sp>
      <p:sp>
        <p:nvSpPr>
          <p:cNvPr id="17" name="Text 15"/>
          <p:cNvSpPr/>
          <p:nvPr/>
        </p:nvSpPr>
        <p:spPr>
          <a:xfrm>
            <a:off x="6108192" y="2176272"/>
            <a:ext cx="2724912" cy="594360"/>
          </a:xfrm>
          <a:prstGeom prst="rect">
            <a:avLst/>
          </a:prstGeom>
          <a:noFill/>
          <a:ln/>
        </p:spPr>
        <p:txBody>
          <a:bodyPr wrap="square" rtlCol="0" anchor="ctr"/>
          <a:lstStyle/>
          <a:p>
            <a:pPr algn="ctr" indent="0" marL="0">
              <a:buNone/>
            </a:pPr>
            <a:r>
              <a:rPr lang="en-US" sz="2200" b="1" dirty="0">
                <a:solidFill>
                  <a:srgbClr val="F9C74F"/>
                </a:solidFill>
                <a:latin typeface="Calibri" pitchFamily="34" charset="0"/>
                <a:ea typeface="Calibri" pitchFamily="34" charset="-122"/>
                <a:cs typeface="Calibri" pitchFamily="34" charset="-120"/>
              </a:rPr>
              <a:t>1.600 M</a:t>
            </a:r>
            <a:endParaRPr lang="en-US" sz="2200" dirty="0"/>
          </a:p>
        </p:txBody>
      </p:sp>
      <p:sp>
        <p:nvSpPr>
          <p:cNvPr id="18" name="Text 16"/>
          <p:cNvSpPr/>
          <p:nvPr/>
        </p:nvSpPr>
        <p:spPr>
          <a:xfrm>
            <a:off x="6108192" y="2770632"/>
            <a:ext cx="2724912" cy="530352"/>
          </a:xfrm>
          <a:prstGeom prst="rect">
            <a:avLst/>
          </a:prstGeom>
          <a:noFill/>
          <a:ln/>
        </p:spPr>
        <p:txBody>
          <a:bodyPr wrap="square" rtlCol="0" anchor="t"/>
          <a:lstStyle/>
          <a:p>
            <a:pPr algn="ctr" indent="0" marL="0">
              <a:buNone/>
            </a:pPr>
            <a:r>
              <a:rPr lang="en-US" sz="1000" dirty="0">
                <a:solidFill>
                  <a:srgbClr val="AACCEE"/>
                </a:solidFill>
                <a:latin typeface="Calibri" pitchFamily="34" charset="0"/>
                <a:ea typeface="Calibri" pitchFamily="34" charset="-122"/>
                <a:cs typeface="Calibri" pitchFamily="34" charset="-120"/>
              </a:rPr>
              <a:t>unidades en el pico maximo de ventas anuales</a:t>
            </a:r>
            <a:endParaRPr lang="en-US" sz="1000" dirty="0"/>
          </a:p>
        </p:txBody>
      </p:sp>
      <p:sp>
        <p:nvSpPr>
          <p:cNvPr id="19" name="Shape 17"/>
          <p:cNvSpPr/>
          <p:nvPr/>
        </p:nvSpPr>
        <p:spPr>
          <a:xfrm>
            <a:off x="347472" y="3538728"/>
            <a:ext cx="8458200" cy="36576"/>
          </a:xfrm>
          <a:prstGeom prst="rect">
            <a:avLst/>
          </a:prstGeom>
          <a:solidFill>
            <a:srgbClr val="CCCCCC"/>
          </a:solidFill>
          <a:ln/>
        </p:spPr>
      </p:sp>
      <p:sp>
        <p:nvSpPr>
          <p:cNvPr id="20" name="Text 18"/>
          <p:cNvSpPr/>
          <p:nvPr/>
        </p:nvSpPr>
        <p:spPr>
          <a:xfrm>
            <a:off x="347472" y="3639312"/>
            <a:ext cx="8229600" cy="347472"/>
          </a:xfrm>
          <a:prstGeom prst="rect">
            <a:avLst/>
          </a:prstGeom>
          <a:noFill/>
          <a:ln/>
        </p:spPr>
        <p:txBody>
          <a:bodyPr wrap="square" rtlCol="0" anchor="ctr"/>
          <a:lstStyle/>
          <a:p>
            <a:pPr indent="0" marL="0">
              <a:buNone/>
            </a:pPr>
            <a:r>
              <a:rPr lang="en-US" sz="1400" b="1" dirty="0">
                <a:solidFill>
                  <a:srgbClr val="1B4F72"/>
                </a:solidFill>
                <a:latin typeface="Calibri" pitchFamily="34" charset="0"/>
                <a:ea typeface="Calibri" pitchFamily="34" charset="-122"/>
                <a:cs typeface="Calibri" pitchFamily="34" charset="-120"/>
              </a:rPr>
              <a:t>Por que lo elegi:</a:t>
            </a:r>
            <a:endParaRPr lang="en-US" sz="1400" dirty="0"/>
          </a:p>
        </p:txBody>
      </p:sp>
      <p:sp>
        <p:nvSpPr>
          <p:cNvPr id="21" name="Shape 19"/>
          <p:cNvSpPr/>
          <p:nvPr/>
        </p:nvSpPr>
        <p:spPr>
          <a:xfrm>
            <a:off x="347472" y="4133088"/>
            <a:ext cx="128016" cy="128016"/>
          </a:xfrm>
          <a:prstGeom prst="ellipse">
            <a:avLst/>
          </a:prstGeom>
          <a:solidFill>
            <a:srgbClr val="E8890A"/>
          </a:solidFill>
          <a:ln/>
        </p:spPr>
      </p:sp>
      <p:sp>
        <p:nvSpPr>
          <p:cNvPr id="22" name="Text 20"/>
          <p:cNvSpPr/>
          <p:nvPr/>
        </p:nvSpPr>
        <p:spPr>
          <a:xfrm>
            <a:off x="548640" y="4069080"/>
            <a:ext cx="825703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Es el dispositivo que mas utilizo a diario: comunicacion, estudios, trabajo y entretenimiento estan en mi smartphone.</a:t>
            </a:r>
            <a:endParaRPr lang="en-US" sz="1100" dirty="0"/>
          </a:p>
        </p:txBody>
      </p:sp>
      <p:sp>
        <p:nvSpPr>
          <p:cNvPr id="23" name="Shape 21"/>
          <p:cNvSpPr/>
          <p:nvPr/>
        </p:nvSpPr>
        <p:spPr>
          <a:xfrm>
            <a:off x="347472" y="4599432"/>
            <a:ext cx="128016" cy="128016"/>
          </a:xfrm>
          <a:prstGeom prst="ellipse">
            <a:avLst/>
          </a:prstGeom>
          <a:solidFill>
            <a:srgbClr val="E8890A"/>
          </a:solidFill>
          <a:ln/>
        </p:spPr>
      </p:sp>
      <p:sp>
        <p:nvSpPr>
          <p:cNvPr id="24" name="Text 22"/>
          <p:cNvSpPr/>
          <p:nvPr/>
        </p:nvSpPr>
        <p:spPr>
          <a:xfrm>
            <a:off x="548640" y="4535424"/>
            <a:ext cx="825703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Su ciclo de vida cubre todas las fases clasicas con datos reales y contrastados, lo que facilita un analisis empirico riguroso.</a:t>
            </a:r>
            <a:endParaRPr lang="en-US" sz="1100" dirty="0"/>
          </a:p>
        </p:txBody>
      </p:sp>
      <p:sp>
        <p:nvSpPr>
          <p:cNvPr id="25" name="Shape 23"/>
          <p:cNvSpPr/>
          <p:nvPr/>
        </p:nvSpPr>
        <p:spPr>
          <a:xfrm>
            <a:off x="347472" y="5065776"/>
            <a:ext cx="128016" cy="128016"/>
          </a:xfrm>
          <a:prstGeom prst="ellipse">
            <a:avLst/>
          </a:prstGeom>
          <a:solidFill>
            <a:srgbClr val="E8890A"/>
          </a:solidFill>
          <a:ln/>
        </p:spPr>
      </p:sp>
      <p:sp>
        <p:nvSpPr>
          <p:cNvPr id="26" name="Text 24"/>
          <p:cNvSpPr/>
          <p:nvPr/>
        </p:nvSpPr>
        <p:spPr>
          <a:xfrm>
            <a:off x="548640" y="5001768"/>
            <a:ext cx="825703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Permite estudiar factores economicos, sociales, tecnologicos y medioambientales de forma integrada y coherente.</a:t>
            </a:r>
            <a:endParaRPr lang="en-US" sz="1100" dirty="0"/>
          </a:p>
        </p:txBody>
      </p:sp>
      <p:sp>
        <p:nvSpPr>
          <p:cNvPr id="27" name="Shape 25"/>
          <p:cNvSpPr/>
          <p:nvPr/>
        </p:nvSpPr>
        <p:spPr>
          <a:xfrm>
            <a:off x="347472" y="5532120"/>
            <a:ext cx="128016" cy="128016"/>
          </a:xfrm>
          <a:prstGeom prst="ellipse">
            <a:avLst/>
          </a:prstGeom>
          <a:solidFill>
            <a:srgbClr val="E8890A"/>
          </a:solidFill>
          <a:ln/>
        </p:spPr>
      </p:sp>
      <p:sp>
        <p:nvSpPr>
          <p:cNvPr id="28" name="Text 26"/>
          <p:cNvSpPr/>
          <p:nvPr/>
        </p:nvSpPr>
        <p:spPr>
          <a:xfrm>
            <a:off x="548640" y="5468112"/>
            <a:ext cx="825703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La abundancia de datos publicos (IDC, Gartner, Statista) permite fundamentar cada fase con evidencia solida y actualizada.</a:t>
            </a:r>
            <a:endParaRPr lang="en-US" sz="1100" dirty="0"/>
          </a:p>
        </p:txBody>
      </p:sp>
      <p:sp>
        <p:nvSpPr>
          <p:cNvPr id="29" name="Shape 27"/>
          <p:cNvSpPr/>
          <p:nvPr/>
        </p:nvSpPr>
        <p:spPr>
          <a:xfrm>
            <a:off x="347472" y="5998464"/>
            <a:ext cx="128016" cy="128016"/>
          </a:xfrm>
          <a:prstGeom prst="ellipse">
            <a:avLst/>
          </a:prstGeom>
          <a:solidFill>
            <a:srgbClr val="E8890A"/>
          </a:solidFill>
          <a:ln/>
        </p:spPr>
      </p:sp>
      <p:sp>
        <p:nvSpPr>
          <p:cNvPr id="30" name="Text 28"/>
          <p:cNvSpPr/>
          <p:nvPr/>
        </p:nvSpPr>
        <p:spPr>
          <a:xfrm>
            <a:off x="548640" y="5934456"/>
            <a:ext cx="825703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Refleja como la innovacion disruptiva puede crear, transformar y saturar un mercado global en tiempo record.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0D1B2A"/>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ANALISIS DEL CICLO DE VIDA  Vision general</a:t>
            </a:r>
            <a:endParaRPr lang="en-US" sz="2400" dirty="0"/>
          </a:p>
        </p:txBody>
      </p:sp>
      <p:sp>
        <p:nvSpPr>
          <p:cNvPr id="6" name="Text 4"/>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El modelo del ciclo de vida describe las etapas por las que pasa un producto desde su lanzamiento hasta su declive. El smartphone es un ejemplo canonico y perfectamente documentado de este modelo.</a:t>
            </a:r>
            <a:endParaRPr lang="en-US" sz="1150" dirty="0"/>
          </a:p>
        </p:txBody>
      </p:sp>
      <p:graphicFrame>
        <p:nvGraphicFramePr>
          <p:cNvPr id="7" name="Chart 0" descr=""/>
          <p:cNvGraphicFramePr/>
          <p:nvPr/>
        </p:nvGraphicFramePr>
        <p:xfrm>
          <a:off x="320040" y="1956816"/>
          <a:ext cx="5349240" cy="4462272"/>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897880" y="1956816"/>
            <a:ext cx="2926080" cy="1024128"/>
          </a:xfrm>
          <a:prstGeom prst="rect">
            <a:avLst/>
          </a:prstGeom>
          <a:solidFill>
            <a:srgbClr val="E8F4FB"/>
          </a:solidFill>
          <a:ln w="12700">
            <a:solidFill>
              <a:srgbClr val="2E86AB"/>
            </a:solidFill>
            <a:prstDash val="solid"/>
          </a:ln>
        </p:spPr>
      </p:sp>
      <p:sp>
        <p:nvSpPr>
          <p:cNvPr id="9" name="Shape 6"/>
          <p:cNvSpPr/>
          <p:nvPr/>
        </p:nvSpPr>
        <p:spPr>
          <a:xfrm>
            <a:off x="5897880" y="1956816"/>
            <a:ext cx="438912" cy="1024128"/>
          </a:xfrm>
          <a:prstGeom prst="rect">
            <a:avLst/>
          </a:prstGeom>
          <a:solidFill>
            <a:srgbClr val="2E86AB"/>
          </a:solidFill>
          <a:ln/>
        </p:spPr>
      </p:sp>
      <p:sp>
        <p:nvSpPr>
          <p:cNvPr id="10" name="Text 7"/>
          <p:cNvSpPr/>
          <p:nvPr/>
        </p:nvSpPr>
        <p:spPr>
          <a:xfrm>
            <a:off x="5897880" y="1956816"/>
            <a:ext cx="438912" cy="10241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6400800" y="2121408"/>
            <a:ext cx="2286000" cy="329184"/>
          </a:xfrm>
          <a:prstGeom prst="rect">
            <a:avLst/>
          </a:prstGeom>
          <a:noFill/>
          <a:ln/>
        </p:spPr>
        <p:txBody>
          <a:bodyPr wrap="square" rtlCol="0" anchor="ctr"/>
          <a:lstStyle/>
          <a:p>
            <a:pPr indent="0" marL="0">
              <a:buNone/>
            </a:pPr>
            <a:r>
              <a:rPr lang="en-US" sz="1400" b="1" dirty="0">
                <a:solidFill>
                  <a:srgbClr val="2E86AB"/>
                </a:solidFill>
                <a:latin typeface="Calibri" pitchFamily="34" charset="0"/>
                <a:ea typeface="Calibri" pitchFamily="34" charset="-122"/>
                <a:cs typeface="Calibri" pitchFamily="34" charset="-120"/>
              </a:rPr>
              <a:t>INTRODUCCION</a:t>
            </a:r>
            <a:endParaRPr lang="en-US" sz="1400" dirty="0"/>
          </a:p>
        </p:txBody>
      </p:sp>
      <p:sp>
        <p:nvSpPr>
          <p:cNvPr id="12" name="Text 9"/>
          <p:cNvSpPr/>
          <p:nvPr/>
        </p:nvSpPr>
        <p:spPr>
          <a:xfrm>
            <a:off x="6400800" y="2478024"/>
            <a:ext cx="2286000" cy="329184"/>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2007-2009</a:t>
            </a:r>
            <a:endParaRPr lang="en-US" sz="1200" dirty="0"/>
          </a:p>
        </p:txBody>
      </p:sp>
      <p:sp>
        <p:nvSpPr>
          <p:cNvPr id="13" name="Shape 10"/>
          <p:cNvSpPr/>
          <p:nvPr/>
        </p:nvSpPr>
        <p:spPr>
          <a:xfrm>
            <a:off x="5897880" y="3072384"/>
            <a:ext cx="2926080" cy="1024128"/>
          </a:xfrm>
          <a:prstGeom prst="rect">
            <a:avLst/>
          </a:prstGeom>
          <a:solidFill>
            <a:srgbClr val="EBF7EF"/>
          </a:solidFill>
          <a:ln w="12700">
            <a:solidFill>
              <a:srgbClr val="1A6B38"/>
            </a:solidFill>
            <a:prstDash val="solid"/>
          </a:ln>
        </p:spPr>
      </p:sp>
      <p:sp>
        <p:nvSpPr>
          <p:cNvPr id="14" name="Shape 11"/>
          <p:cNvSpPr/>
          <p:nvPr/>
        </p:nvSpPr>
        <p:spPr>
          <a:xfrm>
            <a:off x="5897880" y="3072384"/>
            <a:ext cx="438912" cy="1024128"/>
          </a:xfrm>
          <a:prstGeom prst="rect">
            <a:avLst/>
          </a:prstGeom>
          <a:solidFill>
            <a:srgbClr val="1A6B38"/>
          </a:solidFill>
          <a:ln/>
        </p:spPr>
      </p:sp>
      <p:sp>
        <p:nvSpPr>
          <p:cNvPr id="15" name="Text 12"/>
          <p:cNvSpPr/>
          <p:nvPr/>
        </p:nvSpPr>
        <p:spPr>
          <a:xfrm>
            <a:off x="5897880" y="3072384"/>
            <a:ext cx="438912" cy="10241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6400800" y="3236976"/>
            <a:ext cx="2286000" cy="329184"/>
          </a:xfrm>
          <a:prstGeom prst="rect">
            <a:avLst/>
          </a:prstGeom>
          <a:noFill/>
          <a:ln/>
        </p:spPr>
        <p:txBody>
          <a:bodyPr wrap="square" rtlCol="0" anchor="ctr"/>
          <a:lstStyle/>
          <a:p>
            <a:pPr indent="0" marL="0">
              <a:buNone/>
            </a:pPr>
            <a:r>
              <a:rPr lang="en-US" sz="1400" b="1" dirty="0">
                <a:solidFill>
                  <a:srgbClr val="1A6B38"/>
                </a:solidFill>
                <a:latin typeface="Calibri" pitchFamily="34" charset="0"/>
                <a:ea typeface="Calibri" pitchFamily="34" charset="-122"/>
                <a:cs typeface="Calibri" pitchFamily="34" charset="-120"/>
              </a:rPr>
              <a:t>CRECIMIENTO</a:t>
            </a:r>
            <a:endParaRPr lang="en-US" sz="1400" dirty="0"/>
          </a:p>
        </p:txBody>
      </p:sp>
      <p:sp>
        <p:nvSpPr>
          <p:cNvPr id="17" name="Text 14"/>
          <p:cNvSpPr/>
          <p:nvPr/>
        </p:nvSpPr>
        <p:spPr>
          <a:xfrm>
            <a:off x="6400800" y="3593592"/>
            <a:ext cx="2286000" cy="329184"/>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2010-2013</a:t>
            </a:r>
            <a:endParaRPr lang="en-US" sz="1200" dirty="0"/>
          </a:p>
        </p:txBody>
      </p:sp>
      <p:sp>
        <p:nvSpPr>
          <p:cNvPr id="18" name="Shape 15"/>
          <p:cNvSpPr/>
          <p:nvPr/>
        </p:nvSpPr>
        <p:spPr>
          <a:xfrm>
            <a:off x="5897880" y="4187952"/>
            <a:ext cx="2926080" cy="1024128"/>
          </a:xfrm>
          <a:prstGeom prst="rect">
            <a:avLst/>
          </a:prstGeom>
          <a:solidFill>
            <a:srgbClr val="FFF3E0"/>
          </a:solidFill>
          <a:ln w="12700">
            <a:solidFill>
              <a:srgbClr val="8B3A00"/>
            </a:solidFill>
            <a:prstDash val="solid"/>
          </a:ln>
        </p:spPr>
      </p:sp>
      <p:sp>
        <p:nvSpPr>
          <p:cNvPr id="19" name="Shape 16"/>
          <p:cNvSpPr/>
          <p:nvPr/>
        </p:nvSpPr>
        <p:spPr>
          <a:xfrm>
            <a:off x="5897880" y="4187952"/>
            <a:ext cx="438912" cy="1024128"/>
          </a:xfrm>
          <a:prstGeom prst="rect">
            <a:avLst/>
          </a:prstGeom>
          <a:solidFill>
            <a:srgbClr val="8B3A00"/>
          </a:solidFill>
          <a:ln/>
        </p:spPr>
      </p:sp>
      <p:sp>
        <p:nvSpPr>
          <p:cNvPr id="20" name="Text 17"/>
          <p:cNvSpPr/>
          <p:nvPr/>
        </p:nvSpPr>
        <p:spPr>
          <a:xfrm>
            <a:off x="5897880" y="4187952"/>
            <a:ext cx="438912" cy="10241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8"/>
          <p:cNvSpPr/>
          <p:nvPr/>
        </p:nvSpPr>
        <p:spPr>
          <a:xfrm>
            <a:off x="6400800" y="4352544"/>
            <a:ext cx="2286000" cy="329184"/>
          </a:xfrm>
          <a:prstGeom prst="rect">
            <a:avLst/>
          </a:prstGeom>
          <a:noFill/>
          <a:ln/>
        </p:spPr>
        <p:txBody>
          <a:bodyPr wrap="square" rtlCol="0" anchor="ctr"/>
          <a:lstStyle/>
          <a:p>
            <a:pPr indent="0" marL="0">
              <a:buNone/>
            </a:pPr>
            <a:r>
              <a:rPr lang="en-US" sz="1400" b="1" dirty="0">
                <a:solidFill>
                  <a:srgbClr val="8B3A00"/>
                </a:solidFill>
                <a:latin typeface="Calibri" pitchFamily="34" charset="0"/>
                <a:ea typeface="Calibri" pitchFamily="34" charset="-122"/>
                <a:cs typeface="Calibri" pitchFamily="34" charset="-120"/>
              </a:rPr>
              <a:t>MADUREZ</a:t>
            </a:r>
            <a:endParaRPr lang="en-US" sz="1400" dirty="0"/>
          </a:p>
        </p:txBody>
      </p:sp>
      <p:sp>
        <p:nvSpPr>
          <p:cNvPr id="22" name="Text 19"/>
          <p:cNvSpPr/>
          <p:nvPr/>
        </p:nvSpPr>
        <p:spPr>
          <a:xfrm>
            <a:off x="6400800" y="4709160"/>
            <a:ext cx="2286000" cy="329184"/>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2014-2020</a:t>
            </a:r>
            <a:endParaRPr lang="en-US" sz="1200" dirty="0"/>
          </a:p>
        </p:txBody>
      </p:sp>
      <p:sp>
        <p:nvSpPr>
          <p:cNvPr id="23" name="Shape 20"/>
          <p:cNvSpPr/>
          <p:nvPr/>
        </p:nvSpPr>
        <p:spPr>
          <a:xfrm>
            <a:off x="5897880" y="5303520"/>
            <a:ext cx="2926080" cy="1024128"/>
          </a:xfrm>
          <a:prstGeom prst="rect">
            <a:avLst/>
          </a:prstGeom>
          <a:solidFill>
            <a:srgbClr val="FDECEC"/>
          </a:solidFill>
          <a:ln w="12700">
            <a:solidFill>
              <a:srgbClr val="B01E26"/>
            </a:solidFill>
            <a:prstDash val="solid"/>
          </a:ln>
        </p:spPr>
      </p:sp>
      <p:sp>
        <p:nvSpPr>
          <p:cNvPr id="24" name="Shape 21"/>
          <p:cNvSpPr/>
          <p:nvPr/>
        </p:nvSpPr>
        <p:spPr>
          <a:xfrm>
            <a:off x="5897880" y="5303520"/>
            <a:ext cx="438912" cy="1024128"/>
          </a:xfrm>
          <a:prstGeom prst="rect">
            <a:avLst/>
          </a:prstGeom>
          <a:solidFill>
            <a:srgbClr val="B01E26"/>
          </a:solidFill>
          <a:ln/>
        </p:spPr>
      </p:sp>
      <p:sp>
        <p:nvSpPr>
          <p:cNvPr id="25" name="Text 22"/>
          <p:cNvSpPr/>
          <p:nvPr/>
        </p:nvSpPr>
        <p:spPr>
          <a:xfrm>
            <a:off x="5897880" y="5303520"/>
            <a:ext cx="438912" cy="102412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3"/>
          <p:cNvSpPr/>
          <p:nvPr/>
        </p:nvSpPr>
        <p:spPr>
          <a:xfrm>
            <a:off x="6400800" y="5468112"/>
            <a:ext cx="2286000" cy="329184"/>
          </a:xfrm>
          <a:prstGeom prst="rect">
            <a:avLst/>
          </a:prstGeom>
          <a:noFill/>
          <a:ln/>
        </p:spPr>
        <p:txBody>
          <a:bodyPr wrap="square" rtlCol="0" anchor="ctr"/>
          <a:lstStyle/>
          <a:p>
            <a:pPr indent="0" marL="0">
              <a:buNone/>
            </a:pPr>
            <a:r>
              <a:rPr lang="en-US" sz="1400" b="1" dirty="0">
                <a:solidFill>
                  <a:srgbClr val="B01E26"/>
                </a:solidFill>
                <a:latin typeface="Calibri" pitchFamily="34" charset="0"/>
                <a:ea typeface="Calibri" pitchFamily="34" charset="-122"/>
                <a:cs typeface="Calibri" pitchFamily="34" charset="-120"/>
              </a:rPr>
              <a:t>DECLIVE</a:t>
            </a:r>
            <a:endParaRPr lang="en-US" sz="1400" dirty="0"/>
          </a:p>
        </p:txBody>
      </p:sp>
      <p:sp>
        <p:nvSpPr>
          <p:cNvPr id="27" name="Text 24"/>
          <p:cNvSpPr/>
          <p:nvPr/>
        </p:nvSpPr>
        <p:spPr>
          <a:xfrm>
            <a:off x="6400800" y="5824728"/>
            <a:ext cx="2286000" cy="329184"/>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2021-hoy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2E86AB"/>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FASE 1: INTRODUCCION (2007-2009)</a:t>
            </a:r>
            <a:endParaRPr lang="en-US" sz="2400" dirty="0"/>
          </a:p>
        </p:txBody>
      </p:sp>
      <p:sp>
        <p:nvSpPr>
          <p:cNvPr id="6" name="Shape 4"/>
          <p:cNvSpPr/>
          <p:nvPr/>
        </p:nvSpPr>
        <p:spPr>
          <a:xfrm>
            <a:off x="7296912" y="210312"/>
            <a:ext cx="1481328" cy="749808"/>
          </a:xfrm>
          <a:prstGeom prst="rect">
            <a:avLst/>
          </a:prstGeom>
          <a:solidFill>
            <a:srgbClr val="2E86AB"/>
          </a:solidFill>
          <a:ln/>
        </p:spPr>
      </p:sp>
      <p:sp>
        <p:nvSpPr>
          <p:cNvPr id="7" name="Text 5"/>
          <p:cNvSpPr/>
          <p:nvPr/>
        </p:nvSpPr>
        <p:spPr>
          <a:xfrm>
            <a:off x="7296912" y="210312"/>
            <a:ext cx="1481328" cy="7498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FASE 1</a:t>
            </a:r>
            <a:endParaRPr lang="en-US" sz="1400" dirty="0"/>
          </a:p>
        </p:txBody>
      </p:sp>
      <p:sp>
        <p:nvSpPr>
          <p:cNvPr id="8" name="Text 6"/>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En enero de 2007, Steve Jobs presenta el primer iPhone. Pantalla tactil completa, sin teclado fisico, internet real en el bolsillo. El sector de la telefonia movil cambia para siempre.</a:t>
            </a:r>
            <a:endParaRPr lang="en-US" sz="1150" dirty="0"/>
          </a:p>
        </p:txBody>
      </p:sp>
      <p:sp>
        <p:nvSpPr>
          <p:cNvPr id="9" name="Shape 7"/>
          <p:cNvSpPr/>
          <p:nvPr/>
        </p:nvSpPr>
        <p:spPr>
          <a:xfrm>
            <a:off x="320040" y="1965960"/>
            <a:ext cx="4160520" cy="2176272"/>
          </a:xfrm>
          <a:prstGeom prst="rect">
            <a:avLst/>
          </a:prstGeom>
          <a:solidFill>
            <a:srgbClr val="E8F4FB"/>
          </a:solidFill>
          <a:ln w="12700">
            <a:solidFill>
              <a:srgbClr val="2E86AB"/>
            </a:solidFill>
            <a:prstDash val="solid"/>
          </a:ln>
        </p:spPr>
      </p:sp>
      <p:sp>
        <p:nvSpPr>
          <p:cNvPr id="10" name="Shape 8"/>
          <p:cNvSpPr/>
          <p:nvPr/>
        </p:nvSpPr>
        <p:spPr>
          <a:xfrm>
            <a:off x="320040" y="1965960"/>
            <a:ext cx="4160520" cy="50292"/>
          </a:xfrm>
          <a:prstGeom prst="rect">
            <a:avLst/>
          </a:prstGeom>
          <a:solidFill>
            <a:srgbClr val="2E86AB"/>
          </a:solidFill>
          <a:ln/>
        </p:spPr>
      </p:sp>
      <p:sp>
        <p:nvSpPr>
          <p:cNvPr id="11" name="Text 9"/>
          <p:cNvSpPr/>
          <p:nvPr/>
        </p:nvSpPr>
        <p:spPr>
          <a:xfrm>
            <a:off x="429768" y="2057400"/>
            <a:ext cx="3941064" cy="292608"/>
          </a:xfrm>
          <a:prstGeom prst="rect">
            <a:avLst/>
          </a:prstGeom>
          <a:noFill/>
          <a:ln/>
        </p:spPr>
        <p:txBody>
          <a:bodyPr wrap="square" rtlCol="0" anchor="ctr"/>
          <a:lstStyle/>
          <a:p>
            <a:pPr indent="0" marL="0">
              <a:buNone/>
            </a:pPr>
            <a:r>
              <a:rPr lang="en-US" sz="1150" b="1" dirty="0">
                <a:solidFill>
                  <a:srgbClr val="2E86AB"/>
                </a:solidFill>
                <a:latin typeface="Calibri" pitchFamily="34" charset="0"/>
                <a:ea typeface="Calibri" pitchFamily="34" charset="-122"/>
                <a:cs typeface="Calibri" pitchFamily="34" charset="-120"/>
              </a:rPr>
              <a:t>Lanzamiento revolucionario</a:t>
            </a:r>
            <a:endParaRPr lang="en-US" sz="1150" dirty="0"/>
          </a:p>
        </p:txBody>
      </p:sp>
      <p:sp>
        <p:nvSpPr>
          <p:cNvPr id="12" name="Text 10"/>
          <p:cNvSpPr/>
          <p:nvPr/>
        </p:nvSpPr>
        <p:spPr>
          <a:xfrm>
            <a:off x="429768" y="2377440"/>
            <a:ext cx="3941064" cy="1627632"/>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El iPhone 1 integra telefono, iPod e internet en un solo dispositivo. Pantalla 3,5 pulgadas, acelerometro, Wi-Fi y detector de movimiento. Sin botones fisicos. Nokia y BlackBerry lo consideran imposible hasta que lo ven funcionando.</a:t>
            </a:r>
            <a:endParaRPr lang="en-US" sz="1050" dirty="0"/>
          </a:p>
        </p:txBody>
      </p:sp>
      <p:sp>
        <p:nvSpPr>
          <p:cNvPr id="13" name="Shape 11"/>
          <p:cNvSpPr/>
          <p:nvPr/>
        </p:nvSpPr>
        <p:spPr>
          <a:xfrm>
            <a:off x="4617720" y="1965960"/>
            <a:ext cx="4160520" cy="2176272"/>
          </a:xfrm>
          <a:prstGeom prst="rect">
            <a:avLst/>
          </a:prstGeom>
          <a:solidFill>
            <a:srgbClr val="E8F4FB"/>
          </a:solidFill>
          <a:ln w="12700">
            <a:solidFill>
              <a:srgbClr val="2E86AB"/>
            </a:solidFill>
            <a:prstDash val="solid"/>
          </a:ln>
        </p:spPr>
      </p:sp>
      <p:sp>
        <p:nvSpPr>
          <p:cNvPr id="14" name="Shape 12"/>
          <p:cNvSpPr/>
          <p:nvPr/>
        </p:nvSpPr>
        <p:spPr>
          <a:xfrm>
            <a:off x="4617720" y="1965960"/>
            <a:ext cx="4160520" cy="50292"/>
          </a:xfrm>
          <a:prstGeom prst="rect">
            <a:avLst/>
          </a:prstGeom>
          <a:solidFill>
            <a:srgbClr val="2E86AB"/>
          </a:solidFill>
          <a:ln/>
        </p:spPr>
      </p:sp>
      <p:sp>
        <p:nvSpPr>
          <p:cNvPr id="15" name="Text 13"/>
          <p:cNvSpPr/>
          <p:nvPr/>
        </p:nvSpPr>
        <p:spPr>
          <a:xfrm>
            <a:off x="4727448" y="2057400"/>
            <a:ext cx="3941064" cy="292608"/>
          </a:xfrm>
          <a:prstGeom prst="rect">
            <a:avLst/>
          </a:prstGeom>
          <a:noFill/>
          <a:ln/>
        </p:spPr>
        <p:txBody>
          <a:bodyPr wrap="square" rtlCol="0" anchor="ctr"/>
          <a:lstStyle/>
          <a:p>
            <a:pPr indent="0" marL="0">
              <a:buNone/>
            </a:pPr>
            <a:r>
              <a:rPr lang="en-US" sz="1150" b="1" dirty="0">
                <a:solidFill>
                  <a:srgbClr val="2E86AB"/>
                </a:solidFill>
                <a:latin typeface="Calibri" pitchFamily="34" charset="0"/>
                <a:ea typeface="Calibri" pitchFamily="34" charset="-122"/>
                <a:cs typeface="Calibri" pitchFamily="34" charset="-120"/>
              </a:rPr>
              <a:t>Precio elevado y nicho inicial</a:t>
            </a:r>
            <a:endParaRPr lang="en-US" sz="1150" dirty="0"/>
          </a:p>
        </p:txBody>
      </p:sp>
      <p:sp>
        <p:nvSpPr>
          <p:cNvPr id="16" name="Text 14"/>
          <p:cNvSpPr/>
          <p:nvPr/>
        </p:nvSpPr>
        <p:spPr>
          <a:xfrm>
            <a:off x="4727448" y="2377440"/>
            <a:ext cx="3941064" cy="1627632"/>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El dispositivo cuesta 499-599 dolares. Solo 1,4 millones de unidades vendidas en 2007. Los margenes altos financian la I+D. Los competidores no perciben la amenaza hasta que es demasiado tarde para responder.</a:t>
            </a:r>
            <a:endParaRPr lang="en-US" sz="1050" dirty="0"/>
          </a:p>
        </p:txBody>
      </p:sp>
      <p:sp>
        <p:nvSpPr>
          <p:cNvPr id="17" name="Shape 15"/>
          <p:cNvSpPr/>
          <p:nvPr/>
        </p:nvSpPr>
        <p:spPr>
          <a:xfrm>
            <a:off x="320040" y="4242816"/>
            <a:ext cx="4160520" cy="2176272"/>
          </a:xfrm>
          <a:prstGeom prst="rect">
            <a:avLst/>
          </a:prstGeom>
          <a:solidFill>
            <a:srgbClr val="E8F4FB"/>
          </a:solidFill>
          <a:ln w="12700">
            <a:solidFill>
              <a:srgbClr val="2E86AB"/>
            </a:solidFill>
            <a:prstDash val="solid"/>
          </a:ln>
        </p:spPr>
      </p:sp>
      <p:sp>
        <p:nvSpPr>
          <p:cNvPr id="18" name="Shape 16"/>
          <p:cNvSpPr/>
          <p:nvPr/>
        </p:nvSpPr>
        <p:spPr>
          <a:xfrm>
            <a:off x="320040" y="4242816"/>
            <a:ext cx="4160520" cy="50292"/>
          </a:xfrm>
          <a:prstGeom prst="rect">
            <a:avLst/>
          </a:prstGeom>
          <a:solidFill>
            <a:srgbClr val="2E86AB"/>
          </a:solidFill>
          <a:ln/>
        </p:spPr>
      </p:sp>
      <p:sp>
        <p:nvSpPr>
          <p:cNvPr id="19" name="Text 17"/>
          <p:cNvSpPr/>
          <p:nvPr/>
        </p:nvSpPr>
        <p:spPr>
          <a:xfrm>
            <a:off x="429768" y="4334256"/>
            <a:ext cx="3941064" cy="292608"/>
          </a:xfrm>
          <a:prstGeom prst="rect">
            <a:avLst/>
          </a:prstGeom>
          <a:noFill/>
          <a:ln/>
        </p:spPr>
        <p:txBody>
          <a:bodyPr wrap="square" rtlCol="0" anchor="ctr"/>
          <a:lstStyle/>
          <a:p>
            <a:pPr indent="0" marL="0">
              <a:buNone/>
            </a:pPr>
            <a:r>
              <a:rPr lang="en-US" sz="1150" b="1" dirty="0">
                <a:solidFill>
                  <a:srgbClr val="2E86AB"/>
                </a:solidFill>
                <a:latin typeface="Calibri" pitchFamily="34" charset="0"/>
                <a:ea typeface="Calibri" pitchFamily="34" charset="-122"/>
                <a:cs typeface="Calibri" pitchFamily="34" charset="-120"/>
              </a:rPr>
              <a:t>App Store y ecosistema</a:t>
            </a:r>
            <a:endParaRPr lang="en-US" sz="1150" dirty="0"/>
          </a:p>
        </p:txBody>
      </p:sp>
      <p:sp>
        <p:nvSpPr>
          <p:cNvPr id="20" name="Text 18"/>
          <p:cNvSpPr/>
          <p:nvPr/>
        </p:nvSpPr>
        <p:spPr>
          <a:xfrm>
            <a:off x="429768" y="4654296"/>
            <a:ext cx="3941064" cy="1627632"/>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En 2008 Apple lanza el App Store con mas de 500 apps el primer dia. Nace el ecosistema de desarrolladores que convierte al smartphone en plataforma. La tienda factura 1.000 millones de dolares en su primer ano completo.</a:t>
            </a:r>
            <a:endParaRPr lang="en-US" sz="1050" dirty="0"/>
          </a:p>
        </p:txBody>
      </p:sp>
      <p:sp>
        <p:nvSpPr>
          <p:cNvPr id="21" name="Shape 19"/>
          <p:cNvSpPr/>
          <p:nvPr/>
        </p:nvSpPr>
        <p:spPr>
          <a:xfrm>
            <a:off x="4617720" y="4242816"/>
            <a:ext cx="4160520" cy="2176272"/>
          </a:xfrm>
          <a:prstGeom prst="rect">
            <a:avLst/>
          </a:prstGeom>
          <a:solidFill>
            <a:srgbClr val="E8F4FB"/>
          </a:solidFill>
          <a:ln w="12700">
            <a:solidFill>
              <a:srgbClr val="2E86AB"/>
            </a:solidFill>
            <a:prstDash val="solid"/>
          </a:ln>
        </p:spPr>
      </p:sp>
      <p:sp>
        <p:nvSpPr>
          <p:cNvPr id="22" name="Shape 20"/>
          <p:cNvSpPr/>
          <p:nvPr/>
        </p:nvSpPr>
        <p:spPr>
          <a:xfrm>
            <a:off x="4617720" y="4242816"/>
            <a:ext cx="4160520" cy="50292"/>
          </a:xfrm>
          <a:prstGeom prst="rect">
            <a:avLst/>
          </a:prstGeom>
          <a:solidFill>
            <a:srgbClr val="2E86AB"/>
          </a:solidFill>
          <a:ln/>
        </p:spPr>
      </p:sp>
      <p:sp>
        <p:nvSpPr>
          <p:cNvPr id="23" name="Text 21"/>
          <p:cNvSpPr/>
          <p:nvPr/>
        </p:nvSpPr>
        <p:spPr>
          <a:xfrm>
            <a:off x="4727448" y="4334256"/>
            <a:ext cx="3941064" cy="292608"/>
          </a:xfrm>
          <a:prstGeom prst="rect">
            <a:avLst/>
          </a:prstGeom>
          <a:noFill/>
          <a:ln/>
        </p:spPr>
        <p:txBody>
          <a:bodyPr wrap="square" rtlCol="0" anchor="ctr"/>
          <a:lstStyle/>
          <a:p>
            <a:pPr indent="0" marL="0">
              <a:buNone/>
            </a:pPr>
            <a:r>
              <a:rPr lang="en-US" sz="1150" b="1" dirty="0">
                <a:solidFill>
                  <a:srgbClr val="2E86AB"/>
                </a:solidFill>
                <a:latin typeface="Calibri" pitchFamily="34" charset="0"/>
                <a:ea typeface="Calibri" pitchFamily="34" charset="-122"/>
                <a:cs typeface="Calibri" pitchFamily="34" charset="-120"/>
              </a:rPr>
              <a:t>Competencia casi nula</a:t>
            </a:r>
            <a:endParaRPr lang="en-US" sz="1150" dirty="0"/>
          </a:p>
        </p:txBody>
      </p:sp>
      <p:sp>
        <p:nvSpPr>
          <p:cNvPr id="24" name="Text 22"/>
          <p:cNvSpPr/>
          <p:nvPr/>
        </p:nvSpPr>
        <p:spPr>
          <a:xfrm>
            <a:off x="4727448" y="4654296"/>
            <a:ext cx="3941064" cy="1627632"/>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Android (HTC Dream, 2008) es muy basico. RIM y Nokia lideran con hardware obsoleto. Apple disfruta de monopolio temporal de innovacion durante 18 meses y fija precios sin competencia real en el segmento tactil.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1A6B38"/>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FASE 2: CRECIMIENTO (2010-2013)</a:t>
            </a:r>
            <a:endParaRPr lang="en-US" sz="2400" dirty="0"/>
          </a:p>
        </p:txBody>
      </p:sp>
      <p:sp>
        <p:nvSpPr>
          <p:cNvPr id="6" name="Shape 4"/>
          <p:cNvSpPr/>
          <p:nvPr/>
        </p:nvSpPr>
        <p:spPr>
          <a:xfrm>
            <a:off x="7296912" y="210312"/>
            <a:ext cx="1481328" cy="749808"/>
          </a:xfrm>
          <a:prstGeom prst="rect">
            <a:avLst/>
          </a:prstGeom>
          <a:solidFill>
            <a:srgbClr val="1A6B38"/>
          </a:solidFill>
          <a:ln/>
        </p:spPr>
      </p:sp>
      <p:sp>
        <p:nvSpPr>
          <p:cNvPr id="7" name="Text 5"/>
          <p:cNvSpPr/>
          <p:nvPr/>
        </p:nvSpPr>
        <p:spPr>
          <a:xfrm>
            <a:off x="7296912" y="210312"/>
            <a:ext cx="1481328" cy="7498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FASE 2</a:t>
            </a:r>
            <a:endParaRPr lang="en-US" sz="1400" dirty="0"/>
          </a:p>
        </p:txBody>
      </p:sp>
      <p:sp>
        <p:nvSpPr>
          <p:cNvPr id="8" name="Text 6"/>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Las ventas se multiplican por ocho en seis anos: de 122 millones (2007) a mas de 1.000 millones (2013). Android supera a iOS en cuota global. La era del smartphone se democratiza a escala planetaria.</a:t>
            </a:r>
            <a:endParaRPr lang="en-US" sz="1150" dirty="0"/>
          </a:p>
        </p:txBody>
      </p:sp>
      <p:graphicFrame>
        <p:nvGraphicFramePr>
          <p:cNvPr id="9" name="Chart 0" descr=""/>
          <p:cNvGraphicFramePr/>
          <p:nvPr/>
        </p:nvGraphicFramePr>
        <p:xfrm>
          <a:off x="320040" y="1956816"/>
          <a:ext cx="4892040" cy="4462272"/>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349240" y="2075688"/>
            <a:ext cx="128016" cy="128016"/>
          </a:xfrm>
          <a:prstGeom prst="ellipse">
            <a:avLst/>
          </a:prstGeom>
          <a:solidFill>
            <a:srgbClr val="1A6B38"/>
          </a:solidFill>
          <a:ln/>
        </p:spPr>
      </p:sp>
      <p:sp>
        <p:nvSpPr>
          <p:cNvPr id="11" name="Text 8"/>
          <p:cNvSpPr/>
          <p:nvPr/>
        </p:nvSpPr>
        <p:spPr>
          <a:xfrm>
            <a:off x="5550408" y="201168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Android supera a iOS en cuota global en 2011 (53% vs 18%)</a:t>
            </a:r>
            <a:endParaRPr lang="en-US" sz="1100" dirty="0"/>
          </a:p>
        </p:txBody>
      </p:sp>
      <p:sp>
        <p:nvSpPr>
          <p:cNvPr id="12" name="Shape 9"/>
          <p:cNvSpPr/>
          <p:nvPr/>
        </p:nvSpPr>
        <p:spPr>
          <a:xfrm>
            <a:off x="5349240" y="2624328"/>
            <a:ext cx="128016" cy="128016"/>
          </a:xfrm>
          <a:prstGeom prst="ellipse">
            <a:avLst/>
          </a:prstGeom>
          <a:solidFill>
            <a:srgbClr val="1A6B38"/>
          </a:solidFill>
          <a:ln/>
        </p:spPr>
      </p:sp>
      <p:sp>
        <p:nvSpPr>
          <p:cNvPr id="13" name="Text 10"/>
          <p:cNvSpPr/>
          <p:nvPr/>
        </p:nvSpPr>
        <p:spPr>
          <a:xfrm>
            <a:off x="5550408" y="256032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Samsung se convierte en el mayor fabricante del mundo en 2012</a:t>
            </a:r>
            <a:endParaRPr lang="en-US" sz="1100" dirty="0"/>
          </a:p>
        </p:txBody>
      </p:sp>
      <p:sp>
        <p:nvSpPr>
          <p:cNvPr id="14" name="Shape 11"/>
          <p:cNvSpPr/>
          <p:nvPr/>
        </p:nvSpPr>
        <p:spPr>
          <a:xfrm>
            <a:off x="5349240" y="3172968"/>
            <a:ext cx="128016" cy="128016"/>
          </a:xfrm>
          <a:prstGeom prst="ellipse">
            <a:avLst/>
          </a:prstGeom>
          <a:solidFill>
            <a:srgbClr val="1A6B38"/>
          </a:solidFill>
          <a:ln/>
        </p:spPr>
      </p:sp>
      <p:sp>
        <p:nvSpPr>
          <p:cNvPr id="15" name="Text 12"/>
          <p:cNvSpPr/>
          <p:nvPr/>
        </p:nvSpPr>
        <p:spPr>
          <a:xfrm>
            <a:off x="5550408" y="310896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App Store y Play Store crean un nuevo mercado de miles de M$</a:t>
            </a:r>
            <a:endParaRPr lang="en-US" sz="1100" dirty="0"/>
          </a:p>
        </p:txBody>
      </p:sp>
      <p:sp>
        <p:nvSpPr>
          <p:cNvPr id="16" name="Shape 13"/>
          <p:cNvSpPr/>
          <p:nvPr/>
        </p:nvSpPr>
        <p:spPr>
          <a:xfrm>
            <a:off x="5349240" y="3721608"/>
            <a:ext cx="128016" cy="128016"/>
          </a:xfrm>
          <a:prstGeom prst="ellipse">
            <a:avLst/>
          </a:prstGeom>
          <a:solidFill>
            <a:srgbClr val="1A6B38"/>
          </a:solidFill>
          <a:ln/>
        </p:spPr>
      </p:sp>
      <p:sp>
        <p:nvSpPr>
          <p:cNvPr id="17" name="Text 14"/>
          <p:cNvSpPr/>
          <p:nvPr/>
        </p:nvSpPr>
        <p:spPr>
          <a:xfrm>
            <a:off x="5550408" y="365760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Las operadoras subvencionan moviles para captar contratos 2 anos</a:t>
            </a:r>
            <a:endParaRPr lang="en-US" sz="1100" dirty="0"/>
          </a:p>
        </p:txBody>
      </p:sp>
      <p:sp>
        <p:nvSpPr>
          <p:cNvPr id="18" name="Shape 15"/>
          <p:cNvSpPr/>
          <p:nvPr/>
        </p:nvSpPr>
        <p:spPr>
          <a:xfrm>
            <a:off x="5349240" y="4270248"/>
            <a:ext cx="128016" cy="128016"/>
          </a:xfrm>
          <a:prstGeom prst="ellipse">
            <a:avLst/>
          </a:prstGeom>
          <a:solidFill>
            <a:srgbClr val="1A6B38"/>
          </a:solidFill>
          <a:ln/>
        </p:spPr>
      </p:sp>
      <p:sp>
        <p:nvSpPr>
          <p:cNvPr id="19" name="Text 16"/>
          <p:cNvSpPr/>
          <p:nvPr/>
        </p:nvSpPr>
        <p:spPr>
          <a:xfrm>
            <a:off x="5550408" y="420624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El smartphone sustituye a camara, GPS, MP3 y agenda fisica</a:t>
            </a:r>
            <a:endParaRPr lang="en-US" sz="1100" dirty="0"/>
          </a:p>
        </p:txBody>
      </p:sp>
      <p:sp>
        <p:nvSpPr>
          <p:cNvPr id="20" name="Shape 17"/>
          <p:cNvSpPr/>
          <p:nvPr/>
        </p:nvSpPr>
        <p:spPr>
          <a:xfrm>
            <a:off x="5349240" y="4818888"/>
            <a:ext cx="128016" cy="128016"/>
          </a:xfrm>
          <a:prstGeom prst="ellipse">
            <a:avLst/>
          </a:prstGeom>
          <a:solidFill>
            <a:srgbClr val="1A6B38"/>
          </a:solidFill>
          <a:ln/>
        </p:spPr>
      </p:sp>
      <p:sp>
        <p:nvSpPr>
          <p:cNvPr id="21" name="Text 18"/>
          <p:cNvSpPr/>
          <p:nvPr/>
        </p:nvSpPr>
        <p:spPr>
          <a:xfrm>
            <a:off x="5550408" y="475488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China e India se convierten en los mayores mercados emergentes</a:t>
            </a:r>
            <a:endParaRPr lang="en-US" sz="1100" dirty="0"/>
          </a:p>
        </p:txBody>
      </p:sp>
      <p:sp>
        <p:nvSpPr>
          <p:cNvPr id="22" name="Shape 19"/>
          <p:cNvSpPr/>
          <p:nvPr/>
        </p:nvSpPr>
        <p:spPr>
          <a:xfrm>
            <a:off x="5349240" y="5367528"/>
            <a:ext cx="128016" cy="128016"/>
          </a:xfrm>
          <a:prstGeom prst="ellipse">
            <a:avLst/>
          </a:prstGeom>
          <a:solidFill>
            <a:srgbClr val="1A6B38"/>
          </a:solidFill>
          <a:ln/>
        </p:spPr>
      </p:sp>
      <p:sp>
        <p:nvSpPr>
          <p:cNvPr id="23" name="Text 20"/>
          <p:cNvSpPr/>
          <p:nvPr/>
        </p:nvSpPr>
        <p:spPr>
          <a:xfrm>
            <a:off x="5550408" y="530352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Huawei y LG irrumpen con gamas de precio mas accesibles</a:t>
            </a:r>
            <a:endParaRPr lang="en-US" sz="1100" dirty="0"/>
          </a:p>
        </p:txBody>
      </p:sp>
      <p:sp>
        <p:nvSpPr>
          <p:cNvPr id="24" name="Shape 21"/>
          <p:cNvSpPr/>
          <p:nvPr/>
        </p:nvSpPr>
        <p:spPr>
          <a:xfrm>
            <a:off x="5349240" y="5916168"/>
            <a:ext cx="128016" cy="128016"/>
          </a:xfrm>
          <a:prstGeom prst="ellipse">
            <a:avLst/>
          </a:prstGeom>
          <a:solidFill>
            <a:srgbClr val="1A6B38"/>
          </a:solidFill>
          <a:ln/>
        </p:spPr>
      </p:sp>
      <p:sp>
        <p:nvSpPr>
          <p:cNvPr id="25" name="Text 22"/>
          <p:cNvSpPr/>
          <p:nvPr/>
        </p:nvSpPr>
        <p:spPr>
          <a:xfrm>
            <a:off x="5550408" y="5852160"/>
            <a:ext cx="3273552" cy="402336"/>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En 2013 los smartphones superan en ventas anuales a los PC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8B3A00"/>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FASE 3: MADUREZ (2014-2020)</a:t>
            </a:r>
            <a:endParaRPr lang="en-US" sz="2400" dirty="0"/>
          </a:p>
        </p:txBody>
      </p:sp>
      <p:sp>
        <p:nvSpPr>
          <p:cNvPr id="6" name="Shape 4"/>
          <p:cNvSpPr/>
          <p:nvPr/>
        </p:nvSpPr>
        <p:spPr>
          <a:xfrm>
            <a:off x="7296912" y="210312"/>
            <a:ext cx="1481328" cy="749808"/>
          </a:xfrm>
          <a:prstGeom prst="rect">
            <a:avLst/>
          </a:prstGeom>
          <a:solidFill>
            <a:srgbClr val="8B3A00"/>
          </a:solidFill>
          <a:ln/>
        </p:spPr>
      </p:sp>
      <p:sp>
        <p:nvSpPr>
          <p:cNvPr id="7" name="Text 5"/>
          <p:cNvSpPr/>
          <p:nvPr/>
        </p:nvSpPr>
        <p:spPr>
          <a:xfrm>
            <a:off x="7296912" y="210312"/>
            <a:ext cx="1481328" cy="7498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FASE 3</a:t>
            </a:r>
            <a:endParaRPr lang="en-US" sz="1400" dirty="0"/>
          </a:p>
        </p:txBody>
      </p:sp>
      <p:sp>
        <p:nvSpPr>
          <p:cNvPr id="8" name="Text 6"/>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El mercado alcanza su techo: 1.550 millones de unidades en 2016. El crecimiento se estanca y comienza la guerra de precios. Las mejoras son incrementales; los ciclos de renovacion se alargan.</a:t>
            </a:r>
            <a:endParaRPr lang="en-US" sz="1150" dirty="0"/>
          </a:p>
        </p:txBody>
      </p:sp>
      <p:sp>
        <p:nvSpPr>
          <p:cNvPr id="9" name="Shape 7"/>
          <p:cNvSpPr/>
          <p:nvPr/>
        </p:nvSpPr>
        <p:spPr>
          <a:xfrm>
            <a:off x="320040" y="1956816"/>
            <a:ext cx="4160520" cy="1417320"/>
          </a:xfrm>
          <a:prstGeom prst="rect">
            <a:avLst/>
          </a:prstGeom>
          <a:solidFill>
            <a:srgbClr val="FFF3E0"/>
          </a:solidFill>
          <a:ln w="12700">
            <a:solidFill>
              <a:srgbClr val="8B3A00"/>
            </a:solidFill>
            <a:prstDash val="solid"/>
          </a:ln>
        </p:spPr>
      </p:sp>
      <p:sp>
        <p:nvSpPr>
          <p:cNvPr id="10" name="Shape 8"/>
          <p:cNvSpPr/>
          <p:nvPr/>
        </p:nvSpPr>
        <p:spPr>
          <a:xfrm>
            <a:off x="320040" y="1956816"/>
            <a:ext cx="4160520" cy="50292"/>
          </a:xfrm>
          <a:prstGeom prst="rect">
            <a:avLst/>
          </a:prstGeom>
          <a:solidFill>
            <a:srgbClr val="8B3A00"/>
          </a:solidFill>
          <a:ln/>
        </p:spPr>
      </p:sp>
      <p:sp>
        <p:nvSpPr>
          <p:cNvPr id="11" name="Text 9"/>
          <p:cNvSpPr/>
          <p:nvPr/>
        </p:nvSpPr>
        <p:spPr>
          <a:xfrm>
            <a:off x="429768" y="204825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Saturacion del mercado</a:t>
            </a:r>
            <a:endParaRPr lang="en-US" sz="1150" dirty="0"/>
          </a:p>
        </p:txBody>
      </p:sp>
      <p:sp>
        <p:nvSpPr>
          <p:cNvPr id="12" name="Text 10"/>
          <p:cNvSpPr/>
          <p:nvPr/>
        </p:nvSpPr>
        <p:spPr>
          <a:xfrm>
            <a:off x="429768" y="236829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El 85% de Europa usa smartphone en 2016. El crecimiento viene solo de reemplazos cada 2-3 anos. En mercados emergentes aun crece, pero a ritmo decreciente. El mercado maduro ya no escala.</a:t>
            </a:r>
            <a:endParaRPr lang="en-US" sz="1050" dirty="0"/>
          </a:p>
        </p:txBody>
      </p:sp>
      <p:sp>
        <p:nvSpPr>
          <p:cNvPr id="13" name="Shape 11"/>
          <p:cNvSpPr/>
          <p:nvPr/>
        </p:nvSpPr>
        <p:spPr>
          <a:xfrm>
            <a:off x="4617720" y="1956816"/>
            <a:ext cx="4160520" cy="1417320"/>
          </a:xfrm>
          <a:prstGeom prst="rect">
            <a:avLst/>
          </a:prstGeom>
          <a:solidFill>
            <a:srgbClr val="FFF3E0"/>
          </a:solidFill>
          <a:ln w="12700">
            <a:solidFill>
              <a:srgbClr val="8B3A00"/>
            </a:solidFill>
            <a:prstDash val="solid"/>
          </a:ln>
        </p:spPr>
      </p:sp>
      <p:sp>
        <p:nvSpPr>
          <p:cNvPr id="14" name="Shape 12"/>
          <p:cNvSpPr/>
          <p:nvPr/>
        </p:nvSpPr>
        <p:spPr>
          <a:xfrm>
            <a:off x="4617720" y="1956816"/>
            <a:ext cx="4160520" cy="50292"/>
          </a:xfrm>
          <a:prstGeom prst="rect">
            <a:avLst/>
          </a:prstGeom>
          <a:solidFill>
            <a:srgbClr val="8B3A00"/>
          </a:solidFill>
          <a:ln/>
        </p:spPr>
      </p:sp>
      <p:sp>
        <p:nvSpPr>
          <p:cNvPr id="15" name="Text 13"/>
          <p:cNvSpPr/>
          <p:nvPr/>
        </p:nvSpPr>
        <p:spPr>
          <a:xfrm>
            <a:off x="4727448" y="204825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Guerra de precios</a:t>
            </a:r>
            <a:endParaRPr lang="en-US" sz="1150" dirty="0"/>
          </a:p>
        </p:txBody>
      </p:sp>
      <p:sp>
        <p:nvSpPr>
          <p:cNvPr id="16" name="Text 14"/>
          <p:cNvSpPr/>
          <p:nvPr/>
        </p:nvSpPr>
        <p:spPr>
          <a:xfrm>
            <a:off x="4727448" y="236829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Xiaomi lanza moviles de alta calidad por 150 euros. OPPO y vivo conquistan Asia. Samsung crea las series A y M. Apple se refugia en el segmento premium con margenes superiores al 40%.</a:t>
            </a:r>
            <a:endParaRPr lang="en-US" sz="1050" dirty="0"/>
          </a:p>
        </p:txBody>
      </p:sp>
      <p:sp>
        <p:nvSpPr>
          <p:cNvPr id="17" name="Shape 15"/>
          <p:cNvSpPr/>
          <p:nvPr/>
        </p:nvSpPr>
        <p:spPr>
          <a:xfrm>
            <a:off x="320040" y="3465576"/>
            <a:ext cx="4160520" cy="1417320"/>
          </a:xfrm>
          <a:prstGeom prst="rect">
            <a:avLst/>
          </a:prstGeom>
          <a:solidFill>
            <a:srgbClr val="FFF3E0"/>
          </a:solidFill>
          <a:ln w="12700">
            <a:solidFill>
              <a:srgbClr val="8B3A00"/>
            </a:solidFill>
            <a:prstDash val="solid"/>
          </a:ln>
        </p:spPr>
      </p:sp>
      <p:sp>
        <p:nvSpPr>
          <p:cNvPr id="18" name="Shape 16"/>
          <p:cNvSpPr/>
          <p:nvPr/>
        </p:nvSpPr>
        <p:spPr>
          <a:xfrm>
            <a:off x="320040" y="3465576"/>
            <a:ext cx="4160520" cy="50292"/>
          </a:xfrm>
          <a:prstGeom prst="rect">
            <a:avLst/>
          </a:prstGeom>
          <a:solidFill>
            <a:srgbClr val="8B3A00"/>
          </a:solidFill>
          <a:ln/>
        </p:spPr>
      </p:sp>
      <p:sp>
        <p:nvSpPr>
          <p:cNvPr id="19" name="Text 17"/>
          <p:cNvSpPr/>
          <p:nvPr/>
        </p:nvSpPr>
        <p:spPr>
          <a:xfrm>
            <a:off x="429768" y="355701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Innovacion incremental</a:t>
            </a:r>
            <a:endParaRPr lang="en-US" sz="1150" dirty="0"/>
          </a:p>
        </p:txBody>
      </p:sp>
      <p:sp>
        <p:nvSpPr>
          <p:cNvPr id="20" name="Text 18"/>
          <p:cNvSpPr/>
          <p:nvPr/>
        </p:nvSpPr>
        <p:spPr>
          <a:xfrm>
            <a:off x="429768" y="387705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Las mejoras dejan de ser disruptivas: mejor camara, mas bateria, pantalla OLED y Face ID. Los ciclos de renovacion pasan de 2 a 3 anos. Aparece la 'fatiga de actualizaciones' entre usuarios.</a:t>
            </a:r>
            <a:endParaRPr lang="en-US" sz="1050" dirty="0"/>
          </a:p>
        </p:txBody>
      </p:sp>
      <p:sp>
        <p:nvSpPr>
          <p:cNvPr id="21" name="Shape 19"/>
          <p:cNvSpPr/>
          <p:nvPr/>
        </p:nvSpPr>
        <p:spPr>
          <a:xfrm>
            <a:off x="4617720" y="3465576"/>
            <a:ext cx="4160520" cy="1417320"/>
          </a:xfrm>
          <a:prstGeom prst="rect">
            <a:avLst/>
          </a:prstGeom>
          <a:solidFill>
            <a:srgbClr val="FFF3E0"/>
          </a:solidFill>
          <a:ln w="12700">
            <a:solidFill>
              <a:srgbClr val="8B3A00"/>
            </a:solidFill>
            <a:prstDash val="solid"/>
          </a:ln>
        </p:spPr>
      </p:sp>
      <p:sp>
        <p:nvSpPr>
          <p:cNvPr id="22" name="Shape 20"/>
          <p:cNvSpPr/>
          <p:nvPr/>
        </p:nvSpPr>
        <p:spPr>
          <a:xfrm>
            <a:off x="4617720" y="3465576"/>
            <a:ext cx="4160520" cy="50292"/>
          </a:xfrm>
          <a:prstGeom prst="rect">
            <a:avLst/>
          </a:prstGeom>
          <a:solidFill>
            <a:srgbClr val="8B3A00"/>
          </a:solidFill>
          <a:ln/>
        </p:spPr>
      </p:sp>
      <p:sp>
        <p:nvSpPr>
          <p:cNvPr id="23" name="Text 21"/>
          <p:cNvSpPr/>
          <p:nvPr/>
        </p:nvSpPr>
        <p:spPr>
          <a:xfrm>
            <a:off x="4727448" y="355701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Economias de escala</a:t>
            </a:r>
            <a:endParaRPr lang="en-US" sz="1150" dirty="0"/>
          </a:p>
        </p:txBody>
      </p:sp>
      <p:sp>
        <p:nvSpPr>
          <p:cNvPr id="24" name="Text 22"/>
          <p:cNvSpPr/>
          <p:nvPr/>
        </p:nvSpPr>
        <p:spPr>
          <a:xfrm>
            <a:off x="4727448" y="387705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Fabricar un smartphone de gama media cuesta menos de 70 euros. Los precios de pantallas OLED y chips caen drasticamente gracias al volumen. La rentabilidad por unidad aumenta.</a:t>
            </a:r>
            <a:endParaRPr lang="en-US" sz="1050" dirty="0"/>
          </a:p>
        </p:txBody>
      </p:sp>
      <p:sp>
        <p:nvSpPr>
          <p:cNvPr id="25" name="Shape 23"/>
          <p:cNvSpPr/>
          <p:nvPr/>
        </p:nvSpPr>
        <p:spPr>
          <a:xfrm>
            <a:off x="320040" y="4974336"/>
            <a:ext cx="4160520" cy="1417320"/>
          </a:xfrm>
          <a:prstGeom prst="rect">
            <a:avLst/>
          </a:prstGeom>
          <a:solidFill>
            <a:srgbClr val="FFF3E0"/>
          </a:solidFill>
          <a:ln w="12700">
            <a:solidFill>
              <a:srgbClr val="8B3A00"/>
            </a:solidFill>
            <a:prstDash val="solid"/>
          </a:ln>
        </p:spPr>
      </p:sp>
      <p:sp>
        <p:nvSpPr>
          <p:cNvPr id="26" name="Shape 24"/>
          <p:cNvSpPr/>
          <p:nvPr/>
        </p:nvSpPr>
        <p:spPr>
          <a:xfrm>
            <a:off x="320040" y="4974336"/>
            <a:ext cx="4160520" cy="50292"/>
          </a:xfrm>
          <a:prstGeom prst="rect">
            <a:avLst/>
          </a:prstGeom>
          <a:solidFill>
            <a:srgbClr val="8B3A00"/>
          </a:solidFill>
          <a:ln/>
        </p:spPr>
      </p:sp>
      <p:sp>
        <p:nvSpPr>
          <p:cNvPr id="27" name="Text 25"/>
          <p:cNvSpPr/>
          <p:nvPr/>
        </p:nvSpPr>
        <p:spPr>
          <a:xfrm>
            <a:off x="429768" y="506577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Diversificacion de gamas</a:t>
            </a:r>
            <a:endParaRPr lang="en-US" sz="1150" dirty="0"/>
          </a:p>
        </p:txBody>
      </p:sp>
      <p:sp>
        <p:nvSpPr>
          <p:cNvPr id="28" name="Text 26"/>
          <p:cNvSpPr/>
          <p:nvPr/>
        </p:nvSpPr>
        <p:spPr>
          <a:xfrm>
            <a:off x="429768" y="538581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Apple lanza iPhone SE (399$). Samsung divide su catalogo en S, A, M y XCover. Cada fabricante intenta cubrir todos los segmentos: ultra-low cost, medio, alto y premium exclusivo.</a:t>
            </a:r>
            <a:endParaRPr lang="en-US" sz="1050" dirty="0"/>
          </a:p>
        </p:txBody>
      </p:sp>
      <p:sp>
        <p:nvSpPr>
          <p:cNvPr id="29" name="Shape 27"/>
          <p:cNvSpPr/>
          <p:nvPr/>
        </p:nvSpPr>
        <p:spPr>
          <a:xfrm>
            <a:off x="4617720" y="4974336"/>
            <a:ext cx="4160520" cy="1417320"/>
          </a:xfrm>
          <a:prstGeom prst="rect">
            <a:avLst/>
          </a:prstGeom>
          <a:solidFill>
            <a:srgbClr val="FFF3E0"/>
          </a:solidFill>
          <a:ln w="12700">
            <a:solidFill>
              <a:srgbClr val="8B3A00"/>
            </a:solidFill>
            <a:prstDash val="solid"/>
          </a:ln>
        </p:spPr>
      </p:sp>
      <p:sp>
        <p:nvSpPr>
          <p:cNvPr id="30" name="Shape 28"/>
          <p:cNvSpPr/>
          <p:nvPr/>
        </p:nvSpPr>
        <p:spPr>
          <a:xfrm>
            <a:off x="4617720" y="4974336"/>
            <a:ext cx="4160520" cy="50292"/>
          </a:xfrm>
          <a:prstGeom prst="rect">
            <a:avLst/>
          </a:prstGeom>
          <a:solidFill>
            <a:srgbClr val="8B3A00"/>
          </a:solidFill>
          <a:ln/>
        </p:spPr>
      </p:sp>
      <p:sp>
        <p:nvSpPr>
          <p:cNvPr id="31" name="Text 29"/>
          <p:cNvSpPr/>
          <p:nvPr/>
        </p:nvSpPr>
        <p:spPr>
          <a:xfrm>
            <a:off x="4727448" y="5065776"/>
            <a:ext cx="3941064" cy="292608"/>
          </a:xfrm>
          <a:prstGeom prst="rect">
            <a:avLst/>
          </a:prstGeom>
          <a:noFill/>
          <a:ln/>
        </p:spPr>
        <p:txBody>
          <a:bodyPr wrap="square" rtlCol="0" anchor="ctr"/>
          <a:lstStyle/>
          <a:p>
            <a:pPr indent="0" marL="0">
              <a:buNone/>
            </a:pPr>
            <a:r>
              <a:rPr lang="en-US" sz="1150" b="1" dirty="0">
                <a:solidFill>
                  <a:srgbClr val="8B3A00"/>
                </a:solidFill>
                <a:latin typeface="Calibri" pitchFamily="34" charset="0"/>
                <a:ea typeface="Calibri" pitchFamily="34" charset="-122"/>
                <a:cs typeface="Calibri" pitchFamily="34" charset="-120"/>
              </a:rPr>
              <a:t>Presion medioambiental</a:t>
            </a:r>
            <a:endParaRPr lang="en-US" sz="1150" dirty="0"/>
          </a:p>
        </p:txBody>
      </p:sp>
      <p:sp>
        <p:nvSpPr>
          <p:cNvPr id="32" name="Text 30"/>
          <p:cNvSpPr/>
          <p:nvPr/>
        </p:nvSpPr>
        <p:spPr>
          <a:xfrm>
            <a:off x="4727448" y="5385816"/>
            <a:ext cx="3941064" cy="868680"/>
          </a:xfrm>
          <a:prstGeom prst="rect">
            <a:avLst/>
          </a:prstGeom>
          <a:noFill/>
          <a:ln/>
        </p:spPr>
        <p:txBody>
          <a:bodyPr wrap="square" rtlCol="0" anchor="t"/>
          <a:lstStyle/>
          <a:p>
            <a:pPr indent="0" marL="0">
              <a:buNone/>
            </a:pPr>
            <a:r>
              <a:rPr lang="en-US" sz="1050" dirty="0">
                <a:solidFill>
                  <a:srgbClr val="1A1A1A"/>
                </a:solidFill>
                <a:latin typeface="Calibri" pitchFamily="34" charset="0"/>
                <a:ea typeface="Calibri" pitchFamily="34" charset="-122"/>
                <a:cs typeface="Calibri" pitchFamily="34" charset="-120"/>
              </a:rPr>
              <a:t>La UE aprueba la directiva WEEE sobre residuos electronicos. Apple y Samsung lanzan programas de reciclaje. La sostenibilidad entra en la agenda como exigencia legal y argumento de venta.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B01E26"/>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FASE 4: DECLIVE Y REINVENCION (2021-hoy)</a:t>
            </a:r>
            <a:endParaRPr lang="en-US" sz="2400" dirty="0"/>
          </a:p>
        </p:txBody>
      </p:sp>
      <p:sp>
        <p:nvSpPr>
          <p:cNvPr id="6" name="Shape 4"/>
          <p:cNvSpPr/>
          <p:nvPr/>
        </p:nvSpPr>
        <p:spPr>
          <a:xfrm>
            <a:off x="7296912" y="210312"/>
            <a:ext cx="1481328" cy="749808"/>
          </a:xfrm>
          <a:prstGeom prst="rect">
            <a:avLst/>
          </a:prstGeom>
          <a:solidFill>
            <a:srgbClr val="B01E26"/>
          </a:solidFill>
          <a:ln/>
        </p:spPr>
      </p:sp>
      <p:sp>
        <p:nvSpPr>
          <p:cNvPr id="7" name="Text 5"/>
          <p:cNvSpPr/>
          <p:nvPr/>
        </p:nvSpPr>
        <p:spPr>
          <a:xfrm>
            <a:off x="7296912" y="210312"/>
            <a:ext cx="1481328" cy="74980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FASE 4</a:t>
            </a:r>
            <a:endParaRPr lang="en-US" sz="1400" dirty="0"/>
          </a:p>
        </p:txBody>
      </p:sp>
      <p:sp>
        <p:nvSpPr>
          <p:cNvPr id="8" name="Text 6"/>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Las ventas globales caen un 11,3% en 2022: la mayor caida de la historia del sector. La industria apuesta por IA integrada, formatos plegables y sostenibilidad para relanzar el mercado.</a:t>
            </a:r>
            <a:endParaRPr lang="en-US" sz="1150" dirty="0"/>
          </a:p>
        </p:txBody>
      </p:sp>
      <p:graphicFrame>
        <p:nvGraphicFramePr>
          <p:cNvPr id="9" name="Chart 0" descr=""/>
          <p:cNvGraphicFramePr/>
          <p:nvPr/>
        </p:nvGraphicFramePr>
        <p:xfrm>
          <a:off x="320040" y="1956816"/>
          <a:ext cx="4343400" cy="4462272"/>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892040" y="1956816"/>
            <a:ext cx="3913632" cy="1069848"/>
          </a:xfrm>
          <a:prstGeom prst="rect">
            <a:avLst/>
          </a:prstGeom>
          <a:solidFill>
            <a:srgbClr val="FDECEC"/>
          </a:solidFill>
          <a:ln w="12700">
            <a:solidFill>
              <a:srgbClr val="B01E26"/>
            </a:solidFill>
            <a:prstDash val="solid"/>
          </a:ln>
        </p:spPr>
      </p:sp>
      <p:sp>
        <p:nvSpPr>
          <p:cNvPr id="11" name="Shape 8"/>
          <p:cNvSpPr/>
          <p:nvPr/>
        </p:nvSpPr>
        <p:spPr>
          <a:xfrm>
            <a:off x="4892040" y="1956816"/>
            <a:ext cx="3913632" cy="50292"/>
          </a:xfrm>
          <a:prstGeom prst="rect">
            <a:avLst/>
          </a:prstGeom>
          <a:solidFill>
            <a:srgbClr val="B01E26"/>
          </a:solidFill>
          <a:ln/>
        </p:spPr>
      </p:sp>
      <p:sp>
        <p:nvSpPr>
          <p:cNvPr id="12" name="Text 9"/>
          <p:cNvSpPr/>
          <p:nvPr/>
        </p:nvSpPr>
        <p:spPr>
          <a:xfrm>
            <a:off x="5001768" y="2048256"/>
            <a:ext cx="3694176" cy="274320"/>
          </a:xfrm>
          <a:prstGeom prst="rect">
            <a:avLst/>
          </a:prstGeom>
          <a:noFill/>
          <a:ln/>
        </p:spPr>
        <p:txBody>
          <a:bodyPr wrap="square" rtlCol="0" anchor="ctr"/>
          <a:lstStyle/>
          <a:p>
            <a:pPr indent="0" marL="0">
              <a:buNone/>
            </a:pPr>
            <a:r>
              <a:rPr lang="en-US" sz="1150" b="1" dirty="0">
                <a:solidFill>
                  <a:srgbClr val="B01E26"/>
                </a:solidFill>
                <a:latin typeface="Calibri" pitchFamily="34" charset="0"/>
                <a:ea typeface="Calibri" pitchFamily="34" charset="-122"/>
                <a:cs typeface="Calibri" pitchFamily="34" charset="-120"/>
              </a:rPr>
              <a:t>Caida historica de ventas</a:t>
            </a:r>
            <a:endParaRPr lang="en-US" sz="1150" dirty="0"/>
          </a:p>
        </p:txBody>
      </p:sp>
      <p:sp>
        <p:nvSpPr>
          <p:cNvPr id="13" name="Text 10"/>
          <p:cNvSpPr/>
          <p:nvPr/>
        </p:nvSpPr>
        <p:spPr>
          <a:xfrm>
            <a:off x="5001768" y="2359152"/>
            <a:ext cx="3694176" cy="612648"/>
          </a:xfrm>
          <a:prstGeom prst="rect">
            <a:avLst/>
          </a:prstGeom>
          <a:noFill/>
          <a:ln/>
        </p:spPr>
        <p:txBody>
          <a:bodyPr wrap="square" rtlCol="0" anchor="t"/>
          <a:lstStyle/>
          <a:p>
            <a:pPr indent="0" marL="0">
              <a:buNone/>
            </a:pPr>
            <a:r>
              <a:rPr lang="en-US" sz="1000" dirty="0">
                <a:solidFill>
                  <a:srgbClr val="1A1A1A"/>
                </a:solidFill>
                <a:latin typeface="Calibri" pitchFamily="34" charset="0"/>
                <a:ea typeface="Calibri" pitchFamily="34" charset="-122"/>
                <a:cs typeface="Calibri" pitchFamily="34" charset="-120"/>
              </a:rPr>
              <a:t>2022: -11,3%. Los ciclos de reposicion se alargan a 3-4 anos. El stock acumulado de 2021 no se absorbe. La crisis de semiconductores eleva los precios y frena la demanda al mismo tiempo.</a:t>
            </a:r>
            <a:endParaRPr lang="en-US" sz="1000" dirty="0"/>
          </a:p>
        </p:txBody>
      </p:sp>
      <p:sp>
        <p:nvSpPr>
          <p:cNvPr id="14" name="Shape 11"/>
          <p:cNvSpPr/>
          <p:nvPr/>
        </p:nvSpPr>
        <p:spPr>
          <a:xfrm>
            <a:off x="4892040" y="3090672"/>
            <a:ext cx="3913632" cy="1069848"/>
          </a:xfrm>
          <a:prstGeom prst="rect">
            <a:avLst/>
          </a:prstGeom>
          <a:solidFill>
            <a:srgbClr val="FFFFFF"/>
          </a:solidFill>
          <a:ln w="12700">
            <a:solidFill>
              <a:srgbClr val="B01E26"/>
            </a:solidFill>
            <a:prstDash val="solid"/>
          </a:ln>
        </p:spPr>
      </p:sp>
      <p:sp>
        <p:nvSpPr>
          <p:cNvPr id="15" name="Shape 12"/>
          <p:cNvSpPr/>
          <p:nvPr/>
        </p:nvSpPr>
        <p:spPr>
          <a:xfrm>
            <a:off x="4892040" y="3090672"/>
            <a:ext cx="3913632" cy="50292"/>
          </a:xfrm>
          <a:prstGeom prst="rect">
            <a:avLst/>
          </a:prstGeom>
          <a:solidFill>
            <a:srgbClr val="B01E26"/>
          </a:solidFill>
          <a:ln/>
        </p:spPr>
      </p:sp>
      <p:sp>
        <p:nvSpPr>
          <p:cNvPr id="16" name="Text 13"/>
          <p:cNvSpPr/>
          <p:nvPr/>
        </p:nvSpPr>
        <p:spPr>
          <a:xfrm>
            <a:off x="5001768" y="3182112"/>
            <a:ext cx="3694176" cy="274320"/>
          </a:xfrm>
          <a:prstGeom prst="rect">
            <a:avLst/>
          </a:prstGeom>
          <a:noFill/>
          <a:ln/>
        </p:spPr>
        <p:txBody>
          <a:bodyPr wrap="square" rtlCol="0" anchor="ctr"/>
          <a:lstStyle/>
          <a:p>
            <a:pPr indent="0" marL="0">
              <a:buNone/>
            </a:pPr>
            <a:r>
              <a:rPr lang="en-US" sz="1150" b="1" dirty="0">
                <a:solidFill>
                  <a:srgbClr val="B01E26"/>
                </a:solidFill>
                <a:latin typeface="Calibri" pitchFamily="34" charset="0"/>
                <a:ea typeface="Calibri" pitchFamily="34" charset="-122"/>
                <a:cs typeface="Calibri" pitchFamily="34" charset="-120"/>
              </a:rPr>
              <a:t>IA generativa en el dispositivo</a:t>
            </a:r>
            <a:endParaRPr lang="en-US" sz="1150" dirty="0"/>
          </a:p>
        </p:txBody>
      </p:sp>
      <p:sp>
        <p:nvSpPr>
          <p:cNvPr id="17" name="Text 14"/>
          <p:cNvSpPr/>
          <p:nvPr/>
        </p:nvSpPr>
        <p:spPr>
          <a:xfrm>
            <a:off x="5001768" y="3493008"/>
            <a:ext cx="3694176" cy="612648"/>
          </a:xfrm>
          <a:prstGeom prst="rect">
            <a:avLst/>
          </a:prstGeom>
          <a:noFill/>
          <a:ln/>
        </p:spPr>
        <p:txBody>
          <a:bodyPr wrap="square" rtlCol="0" anchor="t"/>
          <a:lstStyle/>
          <a:p>
            <a:pPr indent="0" marL="0">
              <a:buNone/>
            </a:pPr>
            <a:r>
              <a:rPr lang="en-US" sz="1000" dirty="0">
                <a:solidFill>
                  <a:srgbClr val="1A1A1A"/>
                </a:solidFill>
                <a:latin typeface="Calibri" pitchFamily="34" charset="0"/>
                <a:ea typeface="Calibri" pitchFamily="34" charset="-122"/>
                <a:cs typeface="Calibri" pitchFamily="34" charset="-120"/>
              </a:rPr>
              <a:t>Samsung Galaxy S24 y Apple Intelligence (iPhone 16) integran IA on-device. Modelos de lenguaje locales, edicion fotografica con IA y asistentes conversacionales son el nuevo argumento de venta.</a:t>
            </a:r>
            <a:endParaRPr lang="en-US" sz="1000" dirty="0"/>
          </a:p>
        </p:txBody>
      </p:sp>
      <p:sp>
        <p:nvSpPr>
          <p:cNvPr id="18" name="Shape 15"/>
          <p:cNvSpPr/>
          <p:nvPr/>
        </p:nvSpPr>
        <p:spPr>
          <a:xfrm>
            <a:off x="4892040" y="4224528"/>
            <a:ext cx="3913632" cy="1069848"/>
          </a:xfrm>
          <a:prstGeom prst="rect">
            <a:avLst/>
          </a:prstGeom>
          <a:solidFill>
            <a:srgbClr val="FDECEC"/>
          </a:solidFill>
          <a:ln w="12700">
            <a:solidFill>
              <a:srgbClr val="B01E26"/>
            </a:solidFill>
            <a:prstDash val="solid"/>
          </a:ln>
        </p:spPr>
      </p:sp>
      <p:sp>
        <p:nvSpPr>
          <p:cNvPr id="19" name="Shape 16"/>
          <p:cNvSpPr/>
          <p:nvPr/>
        </p:nvSpPr>
        <p:spPr>
          <a:xfrm>
            <a:off x="4892040" y="4224528"/>
            <a:ext cx="3913632" cy="50292"/>
          </a:xfrm>
          <a:prstGeom prst="rect">
            <a:avLst/>
          </a:prstGeom>
          <a:solidFill>
            <a:srgbClr val="B01E26"/>
          </a:solidFill>
          <a:ln/>
        </p:spPr>
      </p:sp>
      <p:sp>
        <p:nvSpPr>
          <p:cNvPr id="20" name="Text 17"/>
          <p:cNvSpPr/>
          <p:nvPr/>
        </p:nvSpPr>
        <p:spPr>
          <a:xfrm>
            <a:off x="5001768" y="4315968"/>
            <a:ext cx="3694176" cy="274320"/>
          </a:xfrm>
          <a:prstGeom prst="rect">
            <a:avLst/>
          </a:prstGeom>
          <a:noFill/>
          <a:ln/>
        </p:spPr>
        <p:txBody>
          <a:bodyPr wrap="square" rtlCol="0" anchor="ctr"/>
          <a:lstStyle/>
          <a:p>
            <a:pPr indent="0" marL="0">
              <a:buNone/>
            </a:pPr>
            <a:r>
              <a:rPr lang="en-US" sz="1150" b="1" dirty="0">
                <a:solidFill>
                  <a:srgbClr val="B01E26"/>
                </a:solidFill>
                <a:latin typeface="Calibri" pitchFamily="34" charset="0"/>
                <a:ea typeface="Calibri" pitchFamily="34" charset="-122"/>
                <a:cs typeface="Calibri" pitchFamily="34" charset="-120"/>
              </a:rPr>
              <a:t>Formatos plegables</a:t>
            </a:r>
            <a:endParaRPr lang="en-US" sz="1150" dirty="0"/>
          </a:p>
        </p:txBody>
      </p:sp>
      <p:sp>
        <p:nvSpPr>
          <p:cNvPr id="21" name="Text 18"/>
          <p:cNvSpPr/>
          <p:nvPr/>
        </p:nvSpPr>
        <p:spPr>
          <a:xfrm>
            <a:off x="5001768" y="4626864"/>
            <a:ext cx="3694176" cy="612648"/>
          </a:xfrm>
          <a:prstGeom prst="rect">
            <a:avLst/>
          </a:prstGeom>
          <a:noFill/>
          <a:ln/>
        </p:spPr>
        <p:txBody>
          <a:bodyPr wrap="square" rtlCol="0" anchor="t"/>
          <a:lstStyle/>
          <a:p>
            <a:pPr indent="0" marL="0">
              <a:buNone/>
            </a:pPr>
            <a:r>
              <a:rPr lang="en-US" sz="1000" dirty="0">
                <a:solidFill>
                  <a:srgbClr val="1A1A1A"/>
                </a:solidFill>
                <a:latin typeface="Calibri" pitchFamily="34" charset="0"/>
                <a:ea typeface="Calibri" pitchFamily="34" charset="-122"/>
                <a:cs typeface="Calibri" pitchFamily="34" charset="-120"/>
              </a:rPr>
              <a:t>Galaxy Z Fold6, Motorola Razr+ y OnePlus Open crean un nuevo factor de forma. Precio superior a 1.500 euros. Crecen un 64% en 2023 pero representan solo el 1,5% del mercado total.</a:t>
            </a:r>
            <a:endParaRPr lang="en-US" sz="1000" dirty="0"/>
          </a:p>
        </p:txBody>
      </p:sp>
      <p:sp>
        <p:nvSpPr>
          <p:cNvPr id="22" name="Shape 19"/>
          <p:cNvSpPr/>
          <p:nvPr/>
        </p:nvSpPr>
        <p:spPr>
          <a:xfrm>
            <a:off x="4892040" y="5358384"/>
            <a:ext cx="3913632" cy="1069848"/>
          </a:xfrm>
          <a:prstGeom prst="rect">
            <a:avLst/>
          </a:prstGeom>
          <a:solidFill>
            <a:srgbClr val="FFFFFF"/>
          </a:solidFill>
          <a:ln w="12700">
            <a:solidFill>
              <a:srgbClr val="B01E26"/>
            </a:solidFill>
            <a:prstDash val="solid"/>
          </a:ln>
        </p:spPr>
      </p:sp>
      <p:sp>
        <p:nvSpPr>
          <p:cNvPr id="23" name="Shape 20"/>
          <p:cNvSpPr/>
          <p:nvPr/>
        </p:nvSpPr>
        <p:spPr>
          <a:xfrm>
            <a:off x="4892040" y="5358384"/>
            <a:ext cx="3913632" cy="50292"/>
          </a:xfrm>
          <a:prstGeom prst="rect">
            <a:avLst/>
          </a:prstGeom>
          <a:solidFill>
            <a:srgbClr val="B01E26"/>
          </a:solidFill>
          <a:ln/>
        </p:spPr>
      </p:sp>
      <p:sp>
        <p:nvSpPr>
          <p:cNvPr id="24" name="Text 21"/>
          <p:cNvSpPr/>
          <p:nvPr/>
        </p:nvSpPr>
        <p:spPr>
          <a:xfrm>
            <a:off x="5001768" y="5449824"/>
            <a:ext cx="3694176" cy="274320"/>
          </a:xfrm>
          <a:prstGeom prst="rect">
            <a:avLst/>
          </a:prstGeom>
          <a:noFill/>
          <a:ln/>
        </p:spPr>
        <p:txBody>
          <a:bodyPr wrap="square" rtlCol="0" anchor="ctr"/>
          <a:lstStyle/>
          <a:p>
            <a:pPr indent="0" marL="0">
              <a:buNone/>
            </a:pPr>
            <a:r>
              <a:rPr lang="en-US" sz="1150" b="1" dirty="0">
                <a:solidFill>
                  <a:srgbClr val="B01E26"/>
                </a:solidFill>
                <a:latin typeface="Calibri" pitchFamily="34" charset="0"/>
                <a:ea typeface="Calibri" pitchFamily="34" charset="-122"/>
                <a:cs typeface="Calibri" pitchFamily="34" charset="-120"/>
              </a:rPr>
              <a:t>Sostenibilidad y derecho a reparar</a:t>
            </a:r>
            <a:endParaRPr lang="en-US" sz="1150" dirty="0"/>
          </a:p>
        </p:txBody>
      </p:sp>
      <p:sp>
        <p:nvSpPr>
          <p:cNvPr id="25" name="Text 22"/>
          <p:cNvSpPr/>
          <p:nvPr/>
        </p:nvSpPr>
        <p:spPr>
          <a:xfrm>
            <a:off x="5001768" y="5760720"/>
            <a:ext cx="3694176" cy="612648"/>
          </a:xfrm>
          <a:prstGeom prst="rect">
            <a:avLst/>
          </a:prstGeom>
          <a:noFill/>
          <a:ln/>
        </p:spPr>
        <p:txBody>
          <a:bodyPr wrap="square" rtlCol="0" anchor="t"/>
          <a:lstStyle/>
          <a:p>
            <a:pPr indent="0" marL="0">
              <a:buNone/>
            </a:pPr>
            <a:r>
              <a:rPr lang="en-US" sz="1000" dirty="0">
                <a:solidFill>
                  <a:srgbClr val="1A1A1A"/>
                </a:solidFill>
                <a:latin typeface="Calibri" pitchFamily="34" charset="0"/>
                <a:ea typeface="Calibri" pitchFamily="34" charset="-122"/>
                <a:cs typeface="Calibri" pitchFamily="34" charset="-120"/>
              </a:rPr>
              <a:t>La UE exige baterias reemplazables desde 2027 y 5 anos de actualizaciones. Apple, Samsung y Fairphone lanzan programas de reparacion oficial. La vida util media del movil sube a 4,5 anos.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5F8FC"/>
          </a:solidFill>
          <a:ln/>
        </p:spPr>
      </p:sp>
      <p:sp>
        <p:nvSpPr>
          <p:cNvPr id="3" name="Shape 1"/>
          <p:cNvSpPr/>
          <p:nvPr/>
        </p:nvSpPr>
        <p:spPr>
          <a:xfrm>
            <a:off x="0" y="0"/>
            <a:ext cx="9144000" cy="1170432"/>
          </a:xfrm>
          <a:prstGeom prst="rect">
            <a:avLst/>
          </a:prstGeom>
          <a:solidFill>
            <a:srgbClr val="0D1B2A"/>
          </a:solidFill>
          <a:ln/>
        </p:spPr>
      </p:sp>
      <p:sp>
        <p:nvSpPr>
          <p:cNvPr id="4" name="Shape 2"/>
          <p:cNvSpPr/>
          <p:nvPr/>
        </p:nvSpPr>
        <p:spPr>
          <a:xfrm>
            <a:off x="0" y="1170432"/>
            <a:ext cx="9144000" cy="64008"/>
          </a:xfrm>
          <a:prstGeom prst="rect">
            <a:avLst/>
          </a:prstGeom>
          <a:solidFill>
            <a:srgbClr val="E8890A"/>
          </a:solidFill>
          <a:ln/>
        </p:spPr>
      </p:sp>
      <p:sp>
        <p:nvSpPr>
          <p:cNvPr id="5" name="Text 3"/>
          <p:cNvSpPr/>
          <p:nvPr/>
        </p:nvSpPr>
        <p:spPr>
          <a:xfrm>
            <a:off x="347472" y="246888"/>
            <a:ext cx="8229600" cy="694944"/>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DATOS ECONOMICOS Y CUOTA DE MERCADO (2024)</a:t>
            </a:r>
            <a:endParaRPr lang="en-US" sz="2400" dirty="0"/>
          </a:p>
        </p:txBody>
      </p:sp>
      <p:sp>
        <p:nvSpPr>
          <p:cNvPr id="6" name="Text 4"/>
          <p:cNvSpPr/>
          <p:nvPr/>
        </p:nvSpPr>
        <p:spPr>
          <a:xfrm>
            <a:off x="347472" y="1371600"/>
            <a:ext cx="8458200" cy="530352"/>
          </a:xfrm>
          <a:prstGeom prst="rect">
            <a:avLst/>
          </a:prstGeom>
          <a:noFill/>
          <a:ln/>
        </p:spPr>
        <p:txBody>
          <a:bodyPr wrap="square" rtlCol="0" anchor="ctr"/>
          <a:lstStyle/>
          <a:p>
            <a:pPr indent="0" marL="0">
              <a:buNone/>
            </a:pPr>
            <a:r>
              <a:rPr lang="en-US" sz="1150" i="1" dirty="0">
                <a:solidFill>
                  <a:srgbClr val="555555"/>
                </a:solidFill>
                <a:latin typeface="Calibri" pitchFamily="34" charset="0"/>
                <a:ea typeface="Calibri" pitchFamily="34" charset="-122"/>
                <a:cs typeface="Calibri" pitchFamily="34" charset="-120"/>
              </a:rPr>
              <a:t>El mercado global de smartphones mueve mas de 430.000 millones de dolares anuales. Samsung y Apple concentran casi el 40% del mercado y mas del 80% de los beneficios del sector.</a:t>
            </a:r>
            <a:endParaRPr lang="en-US" sz="1150" dirty="0"/>
          </a:p>
        </p:txBody>
      </p:sp>
      <p:graphicFrame>
        <p:nvGraphicFramePr>
          <p:cNvPr id="7" name="Chart 0" descr=""/>
          <p:cNvGraphicFramePr/>
          <p:nvPr/>
        </p:nvGraphicFramePr>
        <p:xfrm>
          <a:off x="320040" y="1956816"/>
          <a:ext cx="4251960" cy="4251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754880" y="2011680"/>
            <a:ext cx="4050792" cy="804672"/>
          </a:xfrm>
          <a:prstGeom prst="rect">
            <a:avLst/>
          </a:prstGeom>
          <a:solidFill>
            <a:srgbClr val="E8F4FB"/>
          </a:solidFill>
          <a:ln w="12700">
            <a:solidFill>
              <a:srgbClr val="2E86AB"/>
            </a:solidFill>
            <a:prstDash val="solid"/>
          </a:ln>
        </p:spPr>
      </p:sp>
      <p:sp>
        <p:nvSpPr>
          <p:cNvPr id="9" name="Text 6"/>
          <p:cNvSpPr/>
          <p:nvPr/>
        </p:nvSpPr>
        <p:spPr>
          <a:xfrm>
            <a:off x="4864608" y="2066544"/>
            <a:ext cx="2286000" cy="274320"/>
          </a:xfrm>
          <a:prstGeom prst="rect">
            <a:avLst/>
          </a:prstGeom>
          <a:noFill/>
          <a:ln/>
        </p:spPr>
        <p:txBody>
          <a:bodyPr wrap="square" rtlCol="0" anchor="ctr"/>
          <a:lstStyle/>
          <a:p>
            <a:pPr indent="0" marL="0">
              <a:buNone/>
            </a:pPr>
            <a:r>
              <a:rPr lang="en-US" sz="1050" b="1" dirty="0">
                <a:solidFill>
                  <a:srgbClr val="1B4F72"/>
                </a:solidFill>
                <a:latin typeface="Calibri" pitchFamily="34" charset="0"/>
                <a:ea typeface="Calibri" pitchFamily="34" charset="-122"/>
                <a:cs typeface="Calibri" pitchFamily="34" charset="-120"/>
              </a:rPr>
              <a:t>Mercado global 2024</a:t>
            </a:r>
            <a:endParaRPr lang="en-US" sz="1050" dirty="0"/>
          </a:p>
        </p:txBody>
      </p:sp>
      <p:sp>
        <p:nvSpPr>
          <p:cNvPr id="10" name="Text 7"/>
          <p:cNvSpPr/>
          <p:nvPr/>
        </p:nvSpPr>
        <p:spPr>
          <a:xfrm>
            <a:off x="7178040" y="2048256"/>
            <a:ext cx="1527048" cy="347472"/>
          </a:xfrm>
          <a:prstGeom prst="rect">
            <a:avLst/>
          </a:prstGeom>
          <a:noFill/>
          <a:ln/>
        </p:spPr>
        <p:txBody>
          <a:bodyPr wrap="square" rtlCol="0" anchor="ctr"/>
          <a:lstStyle/>
          <a:p>
            <a:pPr algn="r" indent="0" marL="0">
              <a:buNone/>
            </a:pPr>
            <a:r>
              <a:rPr lang="en-US" sz="1400" b="1" dirty="0">
                <a:solidFill>
                  <a:srgbClr val="E8890A"/>
                </a:solidFill>
                <a:latin typeface="Calibri" pitchFamily="34" charset="0"/>
                <a:ea typeface="Calibri" pitchFamily="34" charset="-122"/>
                <a:cs typeface="Calibri" pitchFamily="34" charset="-120"/>
              </a:rPr>
              <a:t>$430.000 M</a:t>
            </a:r>
            <a:endParaRPr lang="en-US" sz="1400" dirty="0"/>
          </a:p>
        </p:txBody>
      </p:sp>
      <p:sp>
        <p:nvSpPr>
          <p:cNvPr id="11" name="Text 8"/>
          <p:cNvSpPr/>
          <p:nvPr/>
        </p:nvSpPr>
        <p:spPr>
          <a:xfrm>
            <a:off x="4864608" y="2450592"/>
            <a:ext cx="3840480" cy="274320"/>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ingresos anuales totales del sector</a:t>
            </a:r>
            <a:endParaRPr lang="en-US" sz="950" dirty="0"/>
          </a:p>
        </p:txBody>
      </p:sp>
      <p:sp>
        <p:nvSpPr>
          <p:cNvPr id="12" name="Shape 9"/>
          <p:cNvSpPr/>
          <p:nvPr/>
        </p:nvSpPr>
        <p:spPr>
          <a:xfrm>
            <a:off x="4754880" y="2907792"/>
            <a:ext cx="4050792" cy="804672"/>
          </a:xfrm>
          <a:prstGeom prst="rect">
            <a:avLst/>
          </a:prstGeom>
          <a:solidFill>
            <a:srgbClr val="FFFFFF"/>
          </a:solidFill>
          <a:ln w="12700">
            <a:solidFill>
              <a:srgbClr val="2E86AB"/>
            </a:solidFill>
            <a:prstDash val="solid"/>
          </a:ln>
        </p:spPr>
      </p:sp>
      <p:sp>
        <p:nvSpPr>
          <p:cNvPr id="13" name="Text 10"/>
          <p:cNvSpPr/>
          <p:nvPr/>
        </p:nvSpPr>
        <p:spPr>
          <a:xfrm>
            <a:off x="4864608" y="2962656"/>
            <a:ext cx="2286000" cy="274320"/>
          </a:xfrm>
          <a:prstGeom prst="rect">
            <a:avLst/>
          </a:prstGeom>
          <a:noFill/>
          <a:ln/>
        </p:spPr>
        <p:txBody>
          <a:bodyPr wrap="square" rtlCol="0" anchor="ctr"/>
          <a:lstStyle/>
          <a:p>
            <a:pPr indent="0" marL="0">
              <a:buNone/>
            </a:pPr>
            <a:r>
              <a:rPr lang="en-US" sz="1050" b="1" dirty="0">
                <a:solidFill>
                  <a:srgbClr val="1B4F72"/>
                </a:solidFill>
                <a:latin typeface="Calibri" pitchFamily="34" charset="0"/>
                <a:ea typeface="Calibri" pitchFamily="34" charset="-122"/>
                <a:cs typeface="Calibri" pitchFamily="34" charset="-120"/>
              </a:rPr>
              <a:t>Precio medio global</a:t>
            </a:r>
            <a:endParaRPr lang="en-US" sz="1050" dirty="0"/>
          </a:p>
        </p:txBody>
      </p:sp>
      <p:sp>
        <p:nvSpPr>
          <p:cNvPr id="14" name="Text 11"/>
          <p:cNvSpPr/>
          <p:nvPr/>
        </p:nvSpPr>
        <p:spPr>
          <a:xfrm>
            <a:off x="7178040" y="2944368"/>
            <a:ext cx="1527048" cy="347472"/>
          </a:xfrm>
          <a:prstGeom prst="rect">
            <a:avLst/>
          </a:prstGeom>
          <a:noFill/>
          <a:ln/>
        </p:spPr>
        <p:txBody>
          <a:bodyPr wrap="square" rtlCol="0" anchor="ctr"/>
          <a:lstStyle/>
          <a:p>
            <a:pPr algn="r" indent="0" marL="0">
              <a:buNone/>
            </a:pPr>
            <a:r>
              <a:rPr lang="en-US" sz="1400" b="1" dirty="0">
                <a:solidFill>
                  <a:srgbClr val="E8890A"/>
                </a:solidFill>
                <a:latin typeface="Calibri" pitchFamily="34" charset="0"/>
                <a:ea typeface="Calibri" pitchFamily="34" charset="-122"/>
                <a:cs typeface="Calibri" pitchFamily="34" charset="-120"/>
              </a:rPr>
              <a:t>$371</a:t>
            </a:r>
            <a:endParaRPr lang="en-US" sz="1400" dirty="0"/>
          </a:p>
        </p:txBody>
      </p:sp>
      <p:sp>
        <p:nvSpPr>
          <p:cNvPr id="15" name="Text 12"/>
          <p:cNvSpPr/>
          <p:nvPr/>
        </p:nvSpPr>
        <p:spPr>
          <a:xfrm>
            <a:off x="4864608" y="3346704"/>
            <a:ext cx="3840480" cy="274320"/>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por dispositivo smartphone vendido en 2024</a:t>
            </a:r>
            <a:endParaRPr lang="en-US" sz="950" dirty="0"/>
          </a:p>
        </p:txBody>
      </p:sp>
      <p:sp>
        <p:nvSpPr>
          <p:cNvPr id="16" name="Shape 13"/>
          <p:cNvSpPr/>
          <p:nvPr/>
        </p:nvSpPr>
        <p:spPr>
          <a:xfrm>
            <a:off x="4754880" y="3803904"/>
            <a:ext cx="4050792" cy="804672"/>
          </a:xfrm>
          <a:prstGeom prst="rect">
            <a:avLst/>
          </a:prstGeom>
          <a:solidFill>
            <a:srgbClr val="E8F4FB"/>
          </a:solidFill>
          <a:ln w="12700">
            <a:solidFill>
              <a:srgbClr val="2E86AB"/>
            </a:solidFill>
            <a:prstDash val="solid"/>
          </a:ln>
        </p:spPr>
      </p:sp>
      <p:sp>
        <p:nvSpPr>
          <p:cNvPr id="17" name="Text 14"/>
          <p:cNvSpPr/>
          <p:nvPr/>
        </p:nvSpPr>
        <p:spPr>
          <a:xfrm>
            <a:off x="4864608" y="3858768"/>
            <a:ext cx="2286000" cy="274320"/>
          </a:xfrm>
          <a:prstGeom prst="rect">
            <a:avLst/>
          </a:prstGeom>
          <a:noFill/>
          <a:ln/>
        </p:spPr>
        <p:txBody>
          <a:bodyPr wrap="square" rtlCol="0" anchor="ctr"/>
          <a:lstStyle/>
          <a:p>
            <a:pPr indent="0" marL="0">
              <a:buNone/>
            </a:pPr>
            <a:r>
              <a:rPr lang="en-US" sz="1050" b="1" dirty="0">
                <a:solidFill>
                  <a:srgbClr val="1B4F72"/>
                </a:solidFill>
                <a:latin typeface="Calibri" pitchFamily="34" charset="0"/>
                <a:ea typeface="Calibri" pitchFamily="34" charset="-122"/>
                <a:cs typeface="Calibri" pitchFamily="34" charset="-120"/>
              </a:rPr>
              <a:t>Apple beneficio moviles</a:t>
            </a:r>
            <a:endParaRPr lang="en-US" sz="1050" dirty="0"/>
          </a:p>
        </p:txBody>
      </p:sp>
      <p:sp>
        <p:nvSpPr>
          <p:cNvPr id="18" name="Text 15"/>
          <p:cNvSpPr/>
          <p:nvPr/>
        </p:nvSpPr>
        <p:spPr>
          <a:xfrm>
            <a:off x="7178040" y="3840480"/>
            <a:ext cx="1527048" cy="347472"/>
          </a:xfrm>
          <a:prstGeom prst="rect">
            <a:avLst/>
          </a:prstGeom>
          <a:noFill/>
          <a:ln/>
        </p:spPr>
        <p:txBody>
          <a:bodyPr wrap="square" rtlCol="0" anchor="ctr"/>
          <a:lstStyle/>
          <a:p>
            <a:pPr algn="r" indent="0" marL="0">
              <a:buNone/>
            </a:pPr>
            <a:r>
              <a:rPr lang="en-US" sz="1400" b="1" dirty="0">
                <a:solidFill>
                  <a:srgbClr val="E8890A"/>
                </a:solidFill>
                <a:latin typeface="Calibri" pitchFamily="34" charset="0"/>
                <a:ea typeface="Calibri" pitchFamily="34" charset="-122"/>
                <a:cs typeface="Calibri" pitchFamily="34" charset="-120"/>
              </a:rPr>
              <a:t>$60.000 M</a:t>
            </a:r>
            <a:endParaRPr lang="en-US" sz="1400" dirty="0"/>
          </a:p>
        </p:txBody>
      </p:sp>
      <p:sp>
        <p:nvSpPr>
          <p:cNvPr id="19" name="Text 16"/>
          <p:cNvSpPr/>
          <p:nvPr/>
        </p:nvSpPr>
        <p:spPr>
          <a:xfrm>
            <a:off x="4864608" y="4242816"/>
            <a:ext cx="3840480" cy="274320"/>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beneficio neto de Apple en iPhone (2024)</a:t>
            </a:r>
            <a:endParaRPr lang="en-US" sz="950" dirty="0"/>
          </a:p>
        </p:txBody>
      </p:sp>
      <p:sp>
        <p:nvSpPr>
          <p:cNvPr id="20" name="Shape 17"/>
          <p:cNvSpPr/>
          <p:nvPr/>
        </p:nvSpPr>
        <p:spPr>
          <a:xfrm>
            <a:off x="4754880" y="4700016"/>
            <a:ext cx="4050792" cy="804672"/>
          </a:xfrm>
          <a:prstGeom prst="rect">
            <a:avLst/>
          </a:prstGeom>
          <a:solidFill>
            <a:srgbClr val="FFFFFF"/>
          </a:solidFill>
          <a:ln w="12700">
            <a:solidFill>
              <a:srgbClr val="2E86AB"/>
            </a:solidFill>
            <a:prstDash val="solid"/>
          </a:ln>
        </p:spPr>
      </p:sp>
      <p:sp>
        <p:nvSpPr>
          <p:cNvPr id="21" name="Text 18"/>
          <p:cNvSpPr/>
          <p:nvPr/>
        </p:nvSpPr>
        <p:spPr>
          <a:xfrm>
            <a:off x="4864608" y="4754880"/>
            <a:ext cx="2286000" cy="274320"/>
          </a:xfrm>
          <a:prstGeom prst="rect">
            <a:avLst/>
          </a:prstGeom>
          <a:noFill/>
          <a:ln/>
        </p:spPr>
        <p:txBody>
          <a:bodyPr wrap="square" rtlCol="0" anchor="ctr"/>
          <a:lstStyle/>
          <a:p>
            <a:pPr indent="0" marL="0">
              <a:buNone/>
            </a:pPr>
            <a:r>
              <a:rPr lang="en-US" sz="1050" b="1" dirty="0">
                <a:solidFill>
                  <a:srgbClr val="1B4F72"/>
                </a:solidFill>
                <a:latin typeface="Calibri" pitchFamily="34" charset="0"/>
                <a:ea typeface="Calibri" pitchFamily="34" charset="-122"/>
                <a:cs typeface="Calibri" pitchFamily="34" charset="-120"/>
              </a:rPr>
              <a:t>Huawei post-sanciones</a:t>
            </a:r>
            <a:endParaRPr lang="en-US" sz="1050" dirty="0"/>
          </a:p>
        </p:txBody>
      </p:sp>
      <p:sp>
        <p:nvSpPr>
          <p:cNvPr id="22" name="Text 19"/>
          <p:cNvSpPr/>
          <p:nvPr/>
        </p:nvSpPr>
        <p:spPr>
          <a:xfrm>
            <a:off x="7178040" y="4736592"/>
            <a:ext cx="1527048" cy="347472"/>
          </a:xfrm>
          <a:prstGeom prst="rect">
            <a:avLst/>
          </a:prstGeom>
          <a:noFill/>
          <a:ln/>
        </p:spPr>
        <p:txBody>
          <a:bodyPr wrap="square" rtlCol="0" anchor="ctr"/>
          <a:lstStyle/>
          <a:p>
            <a:pPr algn="r" indent="0" marL="0">
              <a:buNone/>
            </a:pPr>
            <a:r>
              <a:rPr lang="en-US" sz="1400" b="1" dirty="0">
                <a:solidFill>
                  <a:srgbClr val="E8890A"/>
                </a:solidFill>
                <a:latin typeface="Calibri" pitchFamily="34" charset="0"/>
                <a:ea typeface="Calibri" pitchFamily="34" charset="-122"/>
                <a:cs typeface="Calibri" pitchFamily="34" charset="-120"/>
              </a:rPr>
              <a:t>-60% ventas</a:t>
            </a:r>
            <a:endParaRPr lang="en-US" sz="1400" dirty="0"/>
          </a:p>
        </p:txBody>
      </p:sp>
      <p:sp>
        <p:nvSpPr>
          <p:cNvPr id="23" name="Text 20"/>
          <p:cNvSpPr/>
          <p:nvPr/>
        </p:nvSpPr>
        <p:spPr>
          <a:xfrm>
            <a:off x="4864608" y="5138928"/>
            <a:ext cx="3840480" cy="274320"/>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impacto de las sanciones comerciales EE.UU.</a:t>
            </a:r>
            <a:endParaRPr lang="en-US" sz="950" dirty="0"/>
          </a:p>
        </p:txBody>
      </p:sp>
      <p:sp>
        <p:nvSpPr>
          <p:cNvPr id="24" name="Shape 21"/>
          <p:cNvSpPr/>
          <p:nvPr/>
        </p:nvSpPr>
        <p:spPr>
          <a:xfrm>
            <a:off x="4754880" y="5596128"/>
            <a:ext cx="4050792" cy="804672"/>
          </a:xfrm>
          <a:prstGeom prst="rect">
            <a:avLst/>
          </a:prstGeom>
          <a:solidFill>
            <a:srgbClr val="E8F4FB"/>
          </a:solidFill>
          <a:ln w="12700">
            <a:solidFill>
              <a:srgbClr val="2E86AB"/>
            </a:solidFill>
            <a:prstDash val="solid"/>
          </a:ln>
        </p:spPr>
      </p:sp>
      <p:sp>
        <p:nvSpPr>
          <p:cNvPr id="25" name="Text 22"/>
          <p:cNvSpPr/>
          <p:nvPr/>
        </p:nvSpPr>
        <p:spPr>
          <a:xfrm>
            <a:off x="4864608" y="5650992"/>
            <a:ext cx="2286000" cy="274320"/>
          </a:xfrm>
          <a:prstGeom prst="rect">
            <a:avLst/>
          </a:prstGeom>
          <a:noFill/>
          <a:ln/>
        </p:spPr>
        <p:txBody>
          <a:bodyPr wrap="square" rtlCol="0" anchor="ctr"/>
          <a:lstStyle/>
          <a:p>
            <a:pPr indent="0" marL="0">
              <a:buNone/>
            </a:pPr>
            <a:r>
              <a:rPr lang="en-US" sz="1050" b="1" dirty="0">
                <a:solidFill>
                  <a:srgbClr val="1B4F72"/>
                </a:solidFill>
                <a:latin typeface="Calibri" pitchFamily="34" charset="0"/>
                <a:ea typeface="Calibri" pitchFamily="34" charset="-122"/>
                <a:cs typeface="Calibri" pitchFamily="34" charset="-120"/>
              </a:rPr>
              <a:t>Mercado plegables 2024</a:t>
            </a:r>
            <a:endParaRPr lang="en-US" sz="1050" dirty="0"/>
          </a:p>
        </p:txBody>
      </p:sp>
      <p:sp>
        <p:nvSpPr>
          <p:cNvPr id="26" name="Text 23"/>
          <p:cNvSpPr/>
          <p:nvPr/>
        </p:nvSpPr>
        <p:spPr>
          <a:xfrm>
            <a:off x="7178040" y="5632704"/>
            <a:ext cx="1527048" cy="347472"/>
          </a:xfrm>
          <a:prstGeom prst="rect">
            <a:avLst/>
          </a:prstGeom>
          <a:noFill/>
          <a:ln/>
        </p:spPr>
        <p:txBody>
          <a:bodyPr wrap="square" rtlCol="0" anchor="ctr"/>
          <a:lstStyle/>
          <a:p>
            <a:pPr algn="r" indent="0" marL="0">
              <a:buNone/>
            </a:pPr>
            <a:r>
              <a:rPr lang="en-US" sz="1400" b="1" dirty="0">
                <a:solidFill>
                  <a:srgbClr val="E8890A"/>
                </a:solidFill>
                <a:latin typeface="Calibri" pitchFamily="34" charset="0"/>
                <a:ea typeface="Calibri" pitchFamily="34" charset="-122"/>
                <a:cs typeface="Calibri" pitchFamily="34" charset="-120"/>
              </a:rPr>
              <a:t>+64% YoY</a:t>
            </a:r>
            <a:endParaRPr lang="en-US" sz="1400" dirty="0"/>
          </a:p>
        </p:txBody>
      </p:sp>
      <p:sp>
        <p:nvSpPr>
          <p:cNvPr id="27" name="Text 24"/>
          <p:cNvSpPr/>
          <p:nvPr/>
        </p:nvSpPr>
        <p:spPr>
          <a:xfrm>
            <a:off x="4864608" y="6035040"/>
            <a:ext cx="3840480" cy="274320"/>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aunque solo representan el 1,5% del total</a:t>
            </a:r>
            <a:endParaRPr lang="en-US" sz="950" dirty="0"/>
          </a:p>
        </p:txBody>
      </p:sp>
      <p:sp>
        <p:nvSpPr>
          <p:cNvPr id="28" name="Text 25"/>
          <p:cNvSpPr/>
          <p:nvPr/>
        </p:nvSpPr>
        <p:spPr>
          <a:xfrm>
            <a:off x="347472" y="6437376"/>
            <a:ext cx="8458200" cy="219456"/>
          </a:xfrm>
          <a:prstGeom prst="rect">
            <a:avLst/>
          </a:prstGeom>
          <a:noFill/>
          <a:ln/>
        </p:spPr>
        <p:txBody>
          <a:bodyPr wrap="square" rtlCol="0" anchor="ctr"/>
          <a:lstStyle/>
          <a:p>
            <a:pPr indent="0" marL="0">
              <a:buNone/>
            </a:pPr>
            <a:r>
              <a:rPr lang="en-US" sz="850" i="1" dirty="0">
                <a:solidFill>
                  <a:srgbClr val="888888"/>
                </a:solidFill>
                <a:latin typeface="Calibri" pitchFamily="34" charset="0"/>
                <a:ea typeface="Calibri" pitchFamily="34" charset="-122"/>
                <a:cs typeface="Calibri" pitchFamily="34" charset="-120"/>
              </a:rPr>
              <a:t>Fuentes: IDC Worldwide Quarterly Mobile Phone Tracker 2024 · Counterpoint Research · Statista 2024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D1B2A"/>
          </a:solidFill>
          <a:ln/>
        </p:spPr>
      </p:sp>
      <p:sp>
        <p:nvSpPr>
          <p:cNvPr id="3" name="Shape 1"/>
          <p:cNvSpPr/>
          <p:nvPr/>
        </p:nvSpPr>
        <p:spPr>
          <a:xfrm>
            <a:off x="0" y="0"/>
            <a:ext cx="9144000" cy="64008"/>
          </a:xfrm>
          <a:prstGeom prst="rect">
            <a:avLst/>
          </a:prstGeom>
          <a:solidFill>
            <a:srgbClr val="E8890A"/>
          </a:solidFill>
          <a:ln/>
        </p:spPr>
      </p:sp>
      <p:sp>
        <p:nvSpPr>
          <p:cNvPr id="4" name="Shape 2"/>
          <p:cNvSpPr/>
          <p:nvPr/>
        </p:nvSpPr>
        <p:spPr>
          <a:xfrm>
            <a:off x="0" y="6793992"/>
            <a:ext cx="9144000" cy="64008"/>
          </a:xfrm>
          <a:prstGeom prst="rect">
            <a:avLst/>
          </a:prstGeom>
          <a:solidFill>
            <a:srgbClr val="E8890A"/>
          </a:solidFill>
          <a:ln/>
        </p:spPr>
      </p:sp>
      <p:sp>
        <p:nvSpPr>
          <p:cNvPr id="5" name="Text 3"/>
          <p:cNvSpPr/>
          <p:nvPr/>
        </p:nvSpPr>
        <p:spPr>
          <a:xfrm>
            <a:off x="347472" y="109728"/>
            <a:ext cx="8458200" cy="896112"/>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347472" y="1005840"/>
            <a:ext cx="8458200" cy="54864"/>
          </a:xfrm>
          <a:prstGeom prst="rect">
            <a:avLst/>
          </a:prstGeom>
          <a:solidFill>
            <a:srgbClr val="E8890A"/>
          </a:solidFill>
          <a:ln/>
        </p:spPr>
      </p:sp>
      <p:sp>
        <p:nvSpPr>
          <p:cNvPr id="7" name="Shape 5"/>
          <p:cNvSpPr/>
          <p:nvPr/>
        </p:nvSpPr>
        <p:spPr>
          <a:xfrm>
            <a:off x="347472" y="1197864"/>
            <a:ext cx="402336" cy="402336"/>
          </a:xfrm>
          <a:prstGeom prst="ellipse">
            <a:avLst/>
          </a:prstGeom>
          <a:solidFill>
            <a:srgbClr val="E8890A"/>
          </a:solidFill>
          <a:ln/>
        </p:spPr>
      </p:sp>
      <p:sp>
        <p:nvSpPr>
          <p:cNvPr id="8" name="Text 6"/>
          <p:cNvSpPr/>
          <p:nvPr/>
        </p:nvSpPr>
        <p:spPr>
          <a:xfrm>
            <a:off x="347472" y="1197864"/>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59536" y="1152144"/>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El smartphone ilustra el ciclo de vida clasico: en 17 anos ha recorrido todas sus fases con datos contrastados a escala global y con impacto economico y social sin precedentes.</a:t>
            </a:r>
            <a:endParaRPr lang="en-US" sz="1080" dirty="0"/>
          </a:p>
        </p:txBody>
      </p:sp>
      <p:sp>
        <p:nvSpPr>
          <p:cNvPr id="10" name="Shape 8"/>
          <p:cNvSpPr/>
          <p:nvPr/>
        </p:nvSpPr>
        <p:spPr>
          <a:xfrm>
            <a:off x="347472" y="2130552"/>
            <a:ext cx="402336" cy="402336"/>
          </a:xfrm>
          <a:prstGeom prst="ellipse">
            <a:avLst/>
          </a:prstGeom>
          <a:solidFill>
            <a:srgbClr val="E8890A"/>
          </a:solidFill>
          <a:ln/>
        </p:spPr>
      </p:sp>
      <p:sp>
        <p:nvSpPr>
          <p:cNvPr id="11" name="Text 9"/>
          <p:cNvSpPr/>
          <p:nvPr/>
        </p:nvSpPr>
        <p:spPr>
          <a:xfrm>
            <a:off x="347472" y="2130552"/>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859536" y="2084832"/>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La introduccion demostro que la innovacion disruptiva puede crear mercados de la nada. Apple aposto por un telefono sin teclado que sus competidores consideraron un fracaso antes de verlo.</a:t>
            </a:r>
            <a:endParaRPr lang="en-US" sz="1080" dirty="0"/>
          </a:p>
        </p:txBody>
      </p:sp>
      <p:sp>
        <p:nvSpPr>
          <p:cNvPr id="13" name="Shape 11"/>
          <p:cNvSpPr/>
          <p:nvPr/>
        </p:nvSpPr>
        <p:spPr>
          <a:xfrm>
            <a:off x="347472" y="3063240"/>
            <a:ext cx="402336" cy="402336"/>
          </a:xfrm>
          <a:prstGeom prst="ellipse">
            <a:avLst/>
          </a:prstGeom>
          <a:solidFill>
            <a:srgbClr val="E8890A"/>
          </a:solidFill>
          <a:ln/>
        </p:spPr>
      </p:sp>
      <p:sp>
        <p:nvSpPr>
          <p:cNvPr id="14" name="Text 12"/>
          <p:cNvSpPr/>
          <p:nvPr/>
        </p:nvSpPr>
        <p:spPr>
          <a:xfrm>
            <a:off x="347472" y="30632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59536" y="3017520"/>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El crecimiento (2010-2013) muestra como responder a necesidades reales a escala global. La competencia de Android acelero la democratizacion y la bajada de precios al alcance de todos.</a:t>
            </a:r>
            <a:endParaRPr lang="en-US" sz="1080" dirty="0"/>
          </a:p>
        </p:txBody>
      </p:sp>
      <p:sp>
        <p:nvSpPr>
          <p:cNvPr id="16" name="Shape 14"/>
          <p:cNvSpPr/>
          <p:nvPr/>
        </p:nvSpPr>
        <p:spPr>
          <a:xfrm>
            <a:off x="347472" y="3995928"/>
            <a:ext cx="402336" cy="402336"/>
          </a:xfrm>
          <a:prstGeom prst="ellipse">
            <a:avLst/>
          </a:prstGeom>
          <a:solidFill>
            <a:srgbClr val="E8890A"/>
          </a:solidFill>
          <a:ln/>
        </p:spPr>
      </p:sp>
      <p:sp>
        <p:nvSpPr>
          <p:cNvPr id="17" name="Text 15"/>
          <p:cNvSpPr/>
          <p:nvPr/>
        </p:nvSpPr>
        <p:spPr>
          <a:xfrm>
            <a:off x="347472" y="3995928"/>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859536" y="3950208"/>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La madurez obligo a diferenciarse en ecosistemas, servicios y experiencia de usuario. Los margenes premium se mantienen, pero el volumen global ya no crece y la competencia es feroz.</a:t>
            </a:r>
            <a:endParaRPr lang="en-US" sz="1080" dirty="0"/>
          </a:p>
        </p:txBody>
      </p:sp>
      <p:sp>
        <p:nvSpPr>
          <p:cNvPr id="19" name="Shape 17"/>
          <p:cNvSpPr/>
          <p:nvPr/>
        </p:nvSpPr>
        <p:spPr>
          <a:xfrm>
            <a:off x="347472" y="4928616"/>
            <a:ext cx="402336" cy="402336"/>
          </a:xfrm>
          <a:prstGeom prst="ellipse">
            <a:avLst/>
          </a:prstGeom>
          <a:solidFill>
            <a:srgbClr val="E8890A"/>
          </a:solidFill>
          <a:ln/>
        </p:spPr>
      </p:sp>
      <p:sp>
        <p:nvSpPr>
          <p:cNvPr id="20" name="Text 18"/>
          <p:cNvSpPr/>
          <p:nvPr/>
        </p:nvSpPr>
        <p:spPr>
          <a:xfrm>
            <a:off x="347472" y="4928616"/>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859536" y="4882896"/>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El declive no implica desaparicion: la IA integrada, los formatos plegables y la sostenibilidad son las apuestas para extender o reiniciar el ciclo. La reinvencion es la unica salida.</a:t>
            </a:r>
            <a:endParaRPr lang="en-US" sz="1080" dirty="0"/>
          </a:p>
        </p:txBody>
      </p:sp>
      <p:sp>
        <p:nvSpPr>
          <p:cNvPr id="22" name="Shape 20"/>
          <p:cNvSpPr/>
          <p:nvPr/>
        </p:nvSpPr>
        <p:spPr>
          <a:xfrm>
            <a:off x="347472" y="5861304"/>
            <a:ext cx="402336" cy="402336"/>
          </a:xfrm>
          <a:prstGeom prst="ellipse">
            <a:avLst/>
          </a:prstGeom>
          <a:solidFill>
            <a:srgbClr val="E8890A"/>
          </a:solidFill>
          <a:ln/>
        </p:spPr>
      </p:sp>
      <p:sp>
        <p:nvSpPr>
          <p:cNvPr id="23" name="Text 21"/>
          <p:cNvSpPr/>
          <p:nvPr/>
        </p:nvSpPr>
        <p:spPr>
          <a:xfrm>
            <a:off x="347472" y="5861304"/>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4" name="Text 22"/>
          <p:cNvSpPr/>
          <p:nvPr/>
        </p:nvSpPr>
        <p:spPr>
          <a:xfrm>
            <a:off x="859536" y="5815584"/>
            <a:ext cx="7955280" cy="804672"/>
          </a:xfrm>
          <a:prstGeom prst="rect">
            <a:avLst/>
          </a:prstGeom>
          <a:noFill/>
          <a:ln/>
        </p:spPr>
        <p:txBody>
          <a:bodyPr wrap="square" rtlCol="0" anchor="t"/>
          <a:lstStyle/>
          <a:p>
            <a:pPr indent="0" marL="0">
              <a:buNone/>
            </a:pPr>
            <a:r>
              <a:rPr lang="en-US" sz="1080" dirty="0">
                <a:solidFill>
                  <a:srgbClr val="C8DCF0"/>
                </a:solidFill>
                <a:latin typeface="Calibri" pitchFamily="34" charset="0"/>
                <a:ea typeface="Calibri" pitchFamily="34" charset="-122"/>
                <a:cs typeface="Calibri" pitchFamily="34" charset="-120"/>
              </a:rPr>
              <a:t>Comprender el ciclo de vida es esencial para cualquier empresa: permite anticipar inversiones, campanas de marketing y decisiones de produccion en el momento oportuno para no quedarse atras.</a:t>
            </a:r>
            <a:endParaRPr lang="en-US" sz="1080" dirty="0"/>
          </a:p>
        </p:txBody>
      </p:sp>
      <p:sp>
        <p:nvSpPr>
          <p:cNvPr id="25" name="Text 23"/>
          <p:cNvSpPr/>
          <p:nvPr/>
        </p:nvSpPr>
        <p:spPr>
          <a:xfrm>
            <a:off x="347472" y="6565392"/>
            <a:ext cx="8458200" cy="219456"/>
          </a:xfrm>
          <a:prstGeom prst="rect">
            <a:avLst/>
          </a:prstGeom>
          <a:noFill/>
          <a:ln/>
        </p:spPr>
        <p:txBody>
          <a:bodyPr wrap="square" rtlCol="0" anchor="ctr"/>
          <a:lstStyle/>
          <a:p>
            <a:pPr algn="ctr" indent="0" marL="0">
              <a:buNone/>
            </a:pPr>
            <a:r>
              <a:rPr lang="en-US" sz="900" dirty="0">
                <a:solidFill>
                  <a:srgbClr val="446688"/>
                </a:solidFill>
                <a:latin typeface="Calibri" pitchFamily="34" charset="0"/>
                <a:ea typeface="Calibri" pitchFamily="34" charset="-122"/>
                <a:cs typeface="Calibri" pitchFamily="34" charset="-120"/>
              </a:rPr>
              <a:t>Economia de la Empresa  |  2 DAW  |  Curso 2025-2026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Ciclo de Vida del Smartphone</dc:title>
  <dc:subject>PptxGenJS Presentation</dc:subject>
  <dc:creator>PptxGenJS</dc:creator>
  <cp:lastModifiedBy>PptxGenJS</cp:lastModifiedBy>
  <cp:revision>1</cp:revision>
  <dcterms:created xsi:type="dcterms:W3CDTF">2026-05-18T21:24:42Z</dcterms:created>
  <dcterms:modified xsi:type="dcterms:W3CDTF">2026-05-18T21:24:42Z</dcterms:modified>
</cp:coreProperties>
</file>